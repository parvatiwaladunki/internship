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56" r:id="rId2"/>
    <p:sldId id="300" r:id="rId3"/>
    <p:sldId id="257" r:id="rId4"/>
    <p:sldId id="301" r:id="rId5"/>
    <p:sldId id="313" r:id="rId6"/>
    <p:sldId id="260" r:id="rId7"/>
    <p:sldId id="315" r:id="rId8"/>
    <p:sldId id="316" r:id="rId9"/>
    <p:sldId id="310" r:id="rId10"/>
    <p:sldId id="303" r:id="rId11"/>
    <p:sldId id="262" r:id="rId12"/>
    <p:sldId id="269" r:id="rId13"/>
    <p:sldId id="309" r:id="rId14"/>
    <p:sldId id="266" r:id="rId15"/>
    <p:sldId id="308" r:id="rId16"/>
    <p:sldId id="317" r:id="rId17"/>
    <p:sldId id="318" r:id="rId18"/>
    <p:sldId id="258" r:id="rId1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21324" autoAdjust="0"/>
    <p:restoredTop sz="94602" autoAdjust="0"/>
  </p:normalViewPr>
  <p:slideViewPr>
    <p:cSldViewPr>
      <p:cViewPr varScale="1">
        <p:scale>
          <a:sx n="74" d="100"/>
          <a:sy n="74" d="100"/>
        </p:scale>
        <p:origin x="99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40F674E-241C-4444-B799-10F33F809B61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fld id="{8AF35538-342E-4811-9A5B-62AE49148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750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368300" y="0"/>
            <a:ext cx="139700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320800" y="0"/>
            <a:ext cx="242888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522413" y="0"/>
            <a:ext cx="3063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41288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38238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2303463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215231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746250" y="4867275"/>
            <a:ext cx="855663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454150" y="5500688"/>
            <a:ext cx="184150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2217738" y="5788025"/>
            <a:ext cx="366712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2540000" y="4495800"/>
            <a:ext cx="487363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088" y="1111250"/>
            <a:ext cx="2286000" cy="508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F3EA7-9516-471B-BDBA-3C797781BEBE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701" y="4117975"/>
            <a:ext cx="3657600" cy="511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6888" y="4929188"/>
            <a:ext cx="812800" cy="517525"/>
          </a:xfrm>
        </p:spPr>
        <p:txBody>
          <a:bodyPr/>
          <a:lstStyle>
            <a:lvl1pPr>
              <a:defRPr/>
            </a:lvl1pPr>
          </a:lstStyle>
          <a:p>
            <a:fld id="{3FD29B45-4318-4DF9-A799-6ED173DD8A9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9159640-D7AD-4552-8586-0B9694A7178E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631849-9E7A-48DF-8D3C-4EBE4D8F2D9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368300" y="0"/>
            <a:ext cx="139700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320800" y="0"/>
            <a:ext cx="242888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522413" y="0"/>
            <a:ext cx="3063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41288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38238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2303463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765300" y="4867275"/>
            <a:ext cx="8572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454150" y="5500688"/>
            <a:ext cx="184150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2217738" y="5791200"/>
            <a:ext cx="366712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2506663" y="4479925"/>
            <a:ext cx="48577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1213008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1500" y="1106488"/>
            <a:ext cx="2286000" cy="508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E4755-5A16-4F01-8C18-A5FE48F7968F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701" y="4114800"/>
            <a:ext cx="3657600" cy="511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5938" y="4929188"/>
            <a:ext cx="812800" cy="517525"/>
          </a:xfrm>
        </p:spPr>
        <p:txBody>
          <a:bodyPr/>
          <a:lstStyle>
            <a:lvl1pPr>
              <a:defRPr/>
            </a:lvl1pPr>
          </a:lstStyle>
          <a:p>
            <a:fld id="{E28893CB-D880-4D90-92D6-85EBEE04B2E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83F92-0458-4BBB-A5A9-6C044A7DB7A4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95C97-B4A4-412D-9E09-3907E08CA64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5E9F5-F981-473E-85C4-406D93F02914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9059DD-5619-48DA-B81A-915F908E53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5B1AEE9-E5EC-428E-B0C6-A6ABB9DEE956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3DCF8CE-4EFD-4E74-A0C5-968D895497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00DA1-4A2C-4715-8FDD-44DE5540D7C0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37C0F-8922-43B7-AA1A-95554EB94B8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4"/>
          <p:cNvSpPr>
            <a:spLocks noChangeShapeType="1"/>
          </p:cNvSpPr>
          <p:nvPr/>
        </p:nvSpPr>
        <p:spPr bwMode="auto">
          <a:xfrm>
            <a:off x="825658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5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8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0875963" y="5715000"/>
            <a:ext cx="731837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049E209-DE90-479C-8620-83E2DB3A945A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AE528B-D19C-4238-9FAA-6E2CB20B2F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875963" y="5715000"/>
            <a:ext cx="731837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4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7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25658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B8D7123-DA67-4ADE-BAF8-5C087A04A163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7ABCD-A278-4C53-87BC-3FA1C5FDFE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8C57C-C71B-45E5-A5BC-D75F10EF9FA5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CE9EC7-BC17-4FFE-A6CD-A279678B8D7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A5FFF-4E46-4C6F-A7B8-B6D2716798C3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021288-A928-4049-967D-34F8CDAB6C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99568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3688" y="1017588"/>
            <a:ext cx="2011362" cy="512762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AB40CAC-3920-4565-B2B8-02E9475D687C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2819" y="3675857"/>
            <a:ext cx="3200400" cy="487362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875963" y="5715000"/>
            <a:ext cx="731837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9450" y="5734050"/>
            <a:ext cx="8128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FFFFFF"/>
                </a:solidFill>
                <a:latin typeface="Century Schoolbook" pitchFamily="18" charset="0"/>
              </a:defRPr>
            </a:lvl1pPr>
          </a:lstStyle>
          <a:p>
            <a:fld id="{D2B2B5EE-FBC5-499B-A684-EA3860056B0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5" r:id="rId1"/>
    <p:sldLayoutId id="2147484126" r:id="rId2"/>
    <p:sldLayoutId id="2147484127" r:id="rId3"/>
    <p:sldLayoutId id="2147484120" r:id="rId4"/>
    <p:sldLayoutId id="2147484121" r:id="rId5"/>
    <p:sldLayoutId id="2147484128" r:id="rId6"/>
    <p:sldLayoutId id="2147484122" r:id="rId7"/>
    <p:sldLayoutId id="2147484129" r:id="rId8"/>
    <p:sldLayoutId id="2147484130" r:id="rId9"/>
    <p:sldLayoutId id="2147484123" r:id="rId10"/>
    <p:sldLayoutId id="214748412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600" y="3091656"/>
            <a:ext cx="7378460" cy="6746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AI Assisted Trust Evaluation In blockchain based digital twin system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2552700" y="4795651"/>
            <a:ext cx="9296400" cy="1295400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/>
              <a:t>Presented By:					                  Guided By:                          </a:t>
            </a:r>
          </a:p>
          <a:p>
            <a:pPr eaLnBrk="1" hangingPunct="1"/>
            <a:r>
              <a:rPr lang="en-US" altLang="en-US" dirty="0"/>
              <a:t>Parvati Waladunki                                                                    Dr. Deepthi V S      </a:t>
            </a:r>
          </a:p>
          <a:p>
            <a:pPr eaLnBrk="1" hangingPunct="1"/>
            <a:r>
              <a:rPr lang="en-US" altLang="en-US" dirty="0"/>
              <a:t>1DS22CY032	                                                                          Assistant Professor</a:t>
            </a:r>
          </a:p>
          <a:p>
            <a:pPr eaLnBrk="1" hangingPunct="1"/>
            <a:r>
              <a:rPr lang="en-US" altLang="en-US" dirty="0"/>
              <a:t>                                                                                                      CSCY, DSCE</a:t>
            </a:r>
          </a:p>
          <a:p>
            <a:pPr eaLnBrk="1" hangingPunct="1"/>
            <a:r>
              <a:rPr lang="en-US" altLang="en-US" dirty="0"/>
              <a:t>                                                                                                      Date: 25-04-2026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28850" y="4118185"/>
            <a:ext cx="9067800" cy="4935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n-US" b="1" dirty="0">
                <a:solidFill>
                  <a:schemeClr val="tx2"/>
                </a:solidFill>
                <a:latin typeface="+mn-lt"/>
                <a:cs typeface="+mn-cs"/>
              </a:rPr>
              <a:t>Group Number: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G-17</a:t>
            </a:r>
            <a:endParaRPr lang="en-US" b="1" dirty="0">
              <a:solidFill>
                <a:schemeClr val="tx2"/>
              </a:solidFill>
              <a:latin typeface="+mn-lt"/>
              <a:cs typeface="+mn-cs"/>
            </a:endParaRP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endParaRPr lang="en-US" b="1" dirty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9221" name="Title 1"/>
          <p:cNvSpPr txBox="1">
            <a:spLocks noChangeArrowheads="1"/>
          </p:cNvSpPr>
          <p:nvPr/>
        </p:nvSpPr>
        <p:spPr bwMode="auto">
          <a:xfrm>
            <a:off x="3276600" y="1358000"/>
            <a:ext cx="69723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Technical Seminar –I </a:t>
            </a:r>
          </a:p>
          <a:p>
            <a:pPr algn="ctr" eaLnBrk="1" hangingPunct="1"/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2025-2026</a:t>
            </a:r>
            <a:endParaRPr lang="en-IN" sz="32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76400" y="320516"/>
            <a:ext cx="9448800" cy="7381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cap="all" dirty="0">
                <a:latin typeface="Bookman Old Style" panose="02050604050505020204" pitchFamily="18" charset="0"/>
                <a:ea typeface="Calibri" panose="020F0502020204030204" pitchFamily="34" charset="0"/>
                <a:cs typeface="Courier New" panose="02070309020205020404" pitchFamily="49" charset="0"/>
              </a:rPr>
              <a:t>Dayananda </a:t>
            </a:r>
            <a:r>
              <a:rPr lang="en-US" sz="2400" b="1" cap="all" dirty="0" err="1">
                <a:latin typeface="Bookman Old Style" panose="02050604050505020204" pitchFamily="18" charset="0"/>
                <a:ea typeface="Calibri" panose="020F0502020204030204" pitchFamily="34" charset="0"/>
                <a:cs typeface="Courier New" panose="02070309020205020404" pitchFamily="49" charset="0"/>
              </a:rPr>
              <a:t>sagar</a:t>
            </a:r>
            <a:r>
              <a:rPr lang="en-US" sz="2400" b="1" cap="all" dirty="0">
                <a:latin typeface="Bookman Old Style" panose="02050604050505020204" pitchFamily="18" charset="0"/>
                <a:ea typeface="Calibri" panose="020F0502020204030204" pitchFamily="34" charset="0"/>
                <a:cs typeface="Courier New" panose="02070309020205020404" pitchFamily="49" charset="0"/>
              </a:rPr>
              <a:t> college of engineering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cap="all" dirty="0">
                <a:solidFill>
                  <a:srgbClr val="0070C0"/>
                </a:solidFill>
                <a:latin typeface="Bookman Old Style" panose="02050604050505020204" pitchFamily="18" charset="0"/>
                <a:cs typeface="Courier New" panose="02070309020205020404" pitchFamily="49" charset="0"/>
              </a:rPr>
              <a:t>Department of computer science &amp; engineering (cyber security)</a:t>
            </a:r>
            <a:endParaRPr lang="en-IN" dirty="0">
              <a:solidFill>
                <a:srgbClr val="0070C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AGENDA</a:t>
            </a:r>
            <a:endParaRPr lang="en-IN" dirty="0"/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625"/>
          </a:xfrm>
        </p:spPr>
        <p:txBody>
          <a:bodyPr/>
          <a:lstStyle/>
          <a:p>
            <a:r>
              <a:rPr lang="en-US" altLang="en-US" dirty="0"/>
              <a:t>Abstract</a:t>
            </a:r>
          </a:p>
          <a:p>
            <a:r>
              <a:rPr lang="en-US" altLang="en-US" dirty="0"/>
              <a:t>Introduction</a:t>
            </a:r>
          </a:p>
          <a:p>
            <a:r>
              <a:rPr lang="en-US" altLang="en-US" dirty="0"/>
              <a:t>Literature Survey</a:t>
            </a:r>
          </a:p>
          <a:p>
            <a:r>
              <a:rPr lang="en-US" altLang="en-US" dirty="0"/>
              <a:t>Design and Working</a:t>
            </a:r>
          </a:p>
          <a:p>
            <a:r>
              <a:rPr lang="en-IN" altLang="en-US" dirty="0"/>
              <a:t>Advantages and Disadvantages</a:t>
            </a:r>
          </a:p>
          <a:p>
            <a:r>
              <a:rPr lang="en-IN" altLang="en-US" dirty="0"/>
              <a:t>Applications</a:t>
            </a:r>
          </a:p>
          <a:p>
            <a:r>
              <a:rPr lang="en-IN" altLang="en-US" dirty="0"/>
              <a:t>Conclusion</a:t>
            </a:r>
          </a:p>
          <a:p>
            <a:r>
              <a:rPr lang="en-IN" altLang="en-US" dirty="0"/>
              <a:t>Future Work</a:t>
            </a:r>
          </a:p>
          <a:p>
            <a:r>
              <a:rPr lang="en-IN" altLang="en-US" dirty="0"/>
              <a:t>References</a:t>
            </a:r>
          </a:p>
          <a:p>
            <a:pPr>
              <a:buNone/>
            </a:pPr>
            <a:endParaRPr lang="en-US" altLang="en-US" dirty="0"/>
          </a:p>
          <a:p>
            <a:pPr>
              <a:buNone/>
            </a:pPr>
            <a:endParaRPr lang="en-IN" alt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22FAEF5-DC6E-4283-B159-C0197C7A9233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7467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Abstract 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539750" y="1158815"/>
            <a:ext cx="10523537" cy="5272087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dirty="0"/>
              <a:t>Digital Twin systems rely on real-time data for simulation and decision-making, ensuring data trust and security is a major challenge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/>
              <a:t>AI is used for anomaly detection and trust evaluation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/>
              <a:t>Blockchain provides secure and tamper-proof data storage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/>
              <a:t>Integration improves data reliability and system accuracy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/>
              <a:t>Applications include smart cities, healthcare, and industrial IoT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8755944-68FB-4AE5-8A65-7DA06E7343D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-184150"/>
            <a:ext cx="2492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en-US"/>
              <a:t> 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0" y="-461963"/>
            <a:ext cx="393700" cy="923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altLang="en-US"/>
          </a:p>
          <a:p>
            <a:pPr>
              <a:buFontTx/>
              <a:buChar char="•"/>
            </a:pPr>
            <a:r>
              <a:rPr lang="en-US" altLang="en-US"/>
              <a:t>. </a:t>
            </a:r>
          </a:p>
          <a:p>
            <a:pPr>
              <a:buFontTx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313"/>
            <a:ext cx="9956800" cy="762000"/>
          </a:xfrm>
        </p:spPr>
        <p:txBody>
          <a:bodyPr/>
          <a:lstStyle/>
          <a:p>
            <a:pPr>
              <a:defRPr/>
            </a:pPr>
            <a:r>
              <a:rPr lang="en-US" dirty="0"/>
              <a:t>                                   INTRODUCTION</a:t>
            </a:r>
            <a:endParaRPr lang="en-IN" dirty="0"/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882650" y="992187"/>
            <a:ext cx="9956800" cy="48736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Digital Twin creates a virtual model of physical systems, it depends on continuous real-time data from IoT devices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Untrusted or manipulated data leads to incorrect decisions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Traditional systems lack security, transparency, and trust evaluation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Need for integration of AI for trust evaluation and Blockchain for secure data storage</a:t>
            </a:r>
            <a:endParaRPr lang="en-IN" altLang="en-US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0456852-3A38-40C0-9D47-31212C6A53E6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E4719FAE-2B2A-2867-13AF-A7C95DD86BCB}"/>
              </a:ext>
            </a:extLst>
          </p:cNvPr>
          <p:cNvSpPr/>
          <p:nvPr/>
        </p:nvSpPr>
        <p:spPr>
          <a:xfrm>
            <a:off x="850569" y="5511739"/>
            <a:ext cx="2096339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Physical Systems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="" xmlns:a16="http://schemas.microsoft.com/office/drawing/2014/main" id="{05AA0327-BE9F-FD78-9119-B88D77398C6D}"/>
              </a:ext>
            </a:extLst>
          </p:cNvPr>
          <p:cNvSpPr/>
          <p:nvPr/>
        </p:nvSpPr>
        <p:spPr>
          <a:xfrm>
            <a:off x="3632708" y="5511739"/>
            <a:ext cx="203676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7E1C6CAE-DAB8-93BE-A101-44369FE5EB4E}"/>
              </a:ext>
            </a:extLst>
          </p:cNvPr>
          <p:cNvSpPr/>
          <p:nvPr/>
        </p:nvSpPr>
        <p:spPr>
          <a:xfrm>
            <a:off x="6355271" y="5511739"/>
            <a:ext cx="17526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Blockchain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="" xmlns:a16="http://schemas.microsoft.com/office/drawing/2014/main" id="{B4FE8781-F374-3591-77DF-FD63FF00EBB6}"/>
              </a:ext>
            </a:extLst>
          </p:cNvPr>
          <p:cNvSpPr/>
          <p:nvPr/>
        </p:nvSpPr>
        <p:spPr>
          <a:xfrm>
            <a:off x="8822426" y="5511739"/>
            <a:ext cx="17526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Digital Twin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A4DC359F-4B7B-A085-CB36-620DC6F625DC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2946908" y="5740339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3711F014-7DAA-8B1A-B1C3-5D553D08A3A2}"/>
              </a:ext>
            </a:extLst>
          </p:cNvPr>
          <p:cNvCxnSpPr/>
          <p:nvPr/>
        </p:nvCxnSpPr>
        <p:spPr>
          <a:xfrm>
            <a:off x="5669471" y="5740339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25E0DE3C-B700-E96A-D355-2DBFE0A51924}"/>
              </a:ext>
            </a:extLst>
          </p:cNvPr>
          <p:cNvCxnSpPr/>
          <p:nvPr/>
        </p:nvCxnSpPr>
        <p:spPr>
          <a:xfrm>
            <a:off x="8107871" y="5740339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0" y="304800"/>
            <a:ext cx="99568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Literature Survey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BB494910-D9AC-A49B-3C7F-16EAF8A03F6A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56420475"/>
              </p:ext>
            </p:extLst>
          </p:nvPr>
        </p:nvGraphicFramePr>
        <p:xfrm>
          <a:off x="381000" y="799563"/>
          <a:ext cx="11049000" cy="530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="" xmlns:a16="http://schemas.microsoft.com/office/drawing/2014/main" val="3907681837"/>
                    </a:ext>
                  </a:extLst>
                </a:gridCol>
                <a:gridCol w="1600200">
                  <a:extLst>
                    <a:ext uri="{9D8B030D-6E8A-4147-A177-3AD203B41FA5}">
                      <a16:colId xmlns="" xmlns:a16="http://schemas.microsoft.com/office/drawing/2014/main" val="3976524410"/>
                    </a:ext>
                  </a:extLst>
                </a:gridCol>
                <a:gridCol w="2133600">
                  <a:extLst>
                    <a:ext uri="{9D8B030D-6E8A-4147-A177-3AD203B41FA5}">
                      <a16:colId xmlns="" xmlns:a16="http://schemas.microsoft.com/office/drawing/2014/main" val="3601312617"/>
                    </a:ext>
                  </a:extLst>
                </a:gridCol>
                <a:gridCol w="2184400">
                  <a:extLst>
                    <a:ext uri="{9D8B030D-6E8A-4147-A177-3AD203B41FA5}">
                      <a16:colId xmlns="" xmlns:a16="http://schemas.microsoft.com/office/drawing/2014/main" val="3931388399"/>
                    </a:ext>
                  </a:extLst>
                </a:gridCol>
                <a:gridCol w="1841500">
                  <a:extLst>
                    <a:ext uri="{9D8B030D-6E8A-4147-A177-3AD203B41FA5}">
                      <a16:colId xmlns="" xmlns:a16="http://schemas.microsoft.com/office/drawing/2014/main" val="248621489"/>
                    </a:ext>
                  </a:extLst>
                </a:gridCol>
                <a:gridCol w="1841500">
                  <a:extLst>
                    <a:ext uri="{9D8B030D-6E8A-4147-A177-3AD203B41FA5}">
                      <a16:colId xmlns="" xmlns:a16="http://schemas.microsoft.com/office/drawing/2014/main" val="1610093789"/>
                    </a:ext>
                  </a:extLst>
                </a:gridCol>
              </a:tblGrid>
              <a:tr h="70705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02335097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 smtClean="0"/>
                        <a:t>Blockchain</a:t>
                      </a:r>
                      <a:r>
                        <a:rPr lang="en-IN" sz="1600" dirty="0" smtClean="0"/>
                        <a:t>-Based Trust Mechanism for DT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Zhang et al.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Lack of trust in </a:t>
                      </a:r>
                      <a:r>
                        <a:rPr lang="en-IN" sz="1600" dirty="0" err="1" smtClean="0"/>
                        <a:t>IIoT</a:t>
                      </a:r>
                      <a:r>
                        <a:rPr lang="en-IN" sz="1600" dirty="0" smtClean="0"/>
                        <a:t> data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 smtClean="0"/>
                        <a:t>PoA</a:t>
                      </a:r>
                      <a:r>
                        <a:rPr lang="en-IN" sz="1600" dirty="0" smtClean="0"/>
                        <a:t>-based </a:t>
                      </a:r>
                      <a:r>
                        <a:rPr lang="en-IN" sz="1600" dirty="0" err="1" smtClean="0"/>
                        <a:t>blockchain</a:t>
                      </a:r>
                      <a:r>
                        <a:rPr lang="en-IN" sz="1600" dirty="0" smtClean="0"/>
                        <a:t> + trust model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Improved data integrity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Limited scalability</a:t>
                      </a:r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74852068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TFL-DT Trust Evaluation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Chen et al.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Malicious participants in FL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AI-based trust scoring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Better accuracy, secure learning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High computation cost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54218183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 smtClean="0"/>
                        <a:t>Blockchain</a:t>
                      </a:r>
                      <a:r>
                        <a:rPr lang="en-IN" sz="1600" dirty="0" smtClean="0"/>
                        <a:t>-enabled DT for Smart Cities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Kumar et al.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Data inconsistency &amp; attacks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LSTM + </a:t>
                      </a:r>
                      <a:r>
                        <a:rPr lang="en-IN" sz="1600" dirty="0" err="1" smtClean="0"/>
                        <a:t>blockchain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Improved prediction &amp; trust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Complex implementation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89034478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AI-based Trust Models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Kumar et al.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Static trust models ineffective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ML anomaly detection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Dynamic trust evaluation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Needs training data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86096180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Secure DT using AI &amp; </a:t>
                      </a:r>
                      <a:r>
                        <a:rPr lang="en-IN" sz="1600" dirty="0" err="1" smtClean="0"/>
                        <a:t>Blockchain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Patel et al.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No unified secure framework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AI + </a:t>
                      </a:r>
                      <a:r>
                        <a:rPr lang="en-IN" sz="1600" dirty="0" err="1" smtClean="0"/>
                        <a:t>blockchain</a:t>
                      </a:r>
                      <a:r>
                        <a:rPr lang="en-IN" sz="1600" dirty="0" smtClean="0"/>
                        <a:t> + smart contracts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Real-time trust evaluation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Latency issues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4089153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457200"/>
            <a:ext cx="9956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DESIGN </a:t>
            </a:r>
            <a:r>
              <a:rPr lang="en-US" dirty="0" smtClean="0"/>
              <a:t>AND WORKING </a:t>
            </a:r>
            <a:endParaRPr lang="en-US" dirty="0"/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5B4D5FC-01EF-424D-8B78-3C3A05A1C8E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685800"/>
            <a:ext cx="10337800" cy="6172200"/>
          </a:xfrm>
        </p:spPr>
        <p:txBody>
          <a:bodyPr/>
          <a:lstStyle/>
          <a:p>
            <a:r>
              <a:rPr lang="en-IN" sz="2000" b="1" dirty="0" smtClean="0"/>
              <a:t>Physical </a:t>
            </a:r>
            <a:r>
              <a:rPr lang="en-IN" sz="2000" b="1" dirty="0"/>
              <a:t>Twin </a:t>
            </a:r>
            <a:r>
              <a:rPr lang="en-IN" sz="2000" b="1" dirty="0" smtClean="0"/>
              <a:t>Layer: </a:t>
            </a:r>
          </a:p>
          <a:p>
            <a:pPr marL="0" indent="0">
              <a:buNone/>
            </a:pPr>
            <a:r>
              <a:rPr lang="en-IN" sz="2000" dirty="0" smtClean="0"/>
              <a:t>    </a:t>
            </a:r>
            <a:r>
              <a:rPr lang="en-IN" sz="1800" dirty="0" smtClean="0"/>
              <a:t>- Real-world </a:t>
            </a:r>
            <a:r>
              <a:rPr lang="en-IN" sz="1800" dirty="0"/>
              <a:t>devices (sensors, actuators) </a:t>
            </a:r>
          </a:p>
          <a:p>
            <a:pPr marL="0" indent="0">
              <a:buNone/>
            </a:pPr>
            <a:r>
              <a:rPr lang="en-IN" sz="1800" dirty="0" smtClean="0"/>
              <a:t>     - Performs </a:t>
            </a:r>
            <a:r>
              <a:rPr lang="en-IN" sz="1800" dirty="0"/>
              <a:t>data sensing and </a:t>
            </a:r>
            <a:r>
              <a:rPr lang="en-IN" sz="1800" dirty="0" smtClean="0"/>
              <a:t>control</a:t>
            </a:r>
          </a:p>
          <a:p>
            <a:pPr>
              <a:buFontTx/>
              <a:buChar char="-"/>
            </a:pPr>
            <a:endParaRPr lang="en-IN" sz="2000" b="1" dirty="0"/>
          </a:p>
          <a:p>
            <a:r>
              <a:rPr lang="en-IN" sz="2000" b="1" dirty="0"/>
              <a:t>Data </a:t>
            </a:r>
            <a:r>
              <a:rPr lang="en-IN" sz="2000" b="1" dirty="0" smtClean="0"/>
              <a:t>Layer:</a:t>
            </a:r>
          </a:p>
          <a:p>
            <a:pPr marL="0" indent="0">
              <a:buNone/>
            </a:pPr>
            <a:r>
              <a:rPr lang="en-IN" sz="2000" dirty="0" smtClean="0"/>
              <a:t>    </a:t>
            </a:r>
            <a:r>
              <a:rPr lang="en-IN" sz="1800" dirty="0" smtClean="0"/>
              <a:t>- Handles </a:t>
            </a:r>
            <a:r>
              <a:rPr lang="en-IN" sz="1800" dirty="0"/>
              <a:t>data storage and processing </a:t>
            </a: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    - Includes</a:t>
            </a:r>
            <a:r>
              <a:rPr lang="en-IN" sz="1800" dirty="0"/>
              <a:t>: Presentation, Elaboration, </a:t>
            </a:r>
            <a:r>
              <a:rPr lang="en-IN" sz="1800" dirty="0" smtClean="0"/>
              <a:t>Persistence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b="1" dirty="0"/>
              <a:t>Digital Twin </a:t>
            </a:r>
            <a:r>
              <a:rPr lang="en-IN" sz="2000" b="1" dirty="0" smtClean="0"/>
              <a:t>Layer:</a:t>
            </a:r>
          </a:p>
          <a:p>
            <a:pPr marL="0" indent="0">
              <a:buNone/>
            </a:pPr>
            <a:r>
              <a:rPr lang="en-IN" sz="1800" b="1" dirty="0"/>
              <a:t> </a:t>
            </a:r>
            <a:r>
              <a:rPr lang="en-IN" sz="1800" b="1" dirty="0" smtClean="0"/>
              <a:t>   - </a:t>
            </a:r>
            <a:r>
              <a:rPr lang="en-IN" sz="1800" dirty="0" smtClean="0"/>
              <a:t>Creates </a:t>
            </a:r>
            <a:r>
              <a:rPr lang="en-IN" sz="1800" dirty="0"/>
              <a:t>virtual model of physical system </a:t>
            </a:r>
            <a:endParaRPr lang="en-IN" sz="1800" dirty="0" smtClean="0"/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smtClean="0"/>
              <a:t>   - Performs</a:t>
            </a:r>
            <a:r>
              <a:rPr lang="en-IN" sz="1800" dirty="0"/>
              <a:t>: </a:t>
            </a:r>
            <a:r>
              <a:rPr lang="en-IN" sz="1800" dirty="0" err="1"/>
              <a:t>Modeling</a:t>
            </a:r>
            <a:r>
              <a:rPr lang="en-IN" sz="1800" dirty="0"/>
              <a:t>, Reasoning, </a:t>
            </a:r>
            <a:r>
              <a:rPr lang="en-IN" sz="1800" dirty="0" smtClean="0"/>
              <a:t>Feedback</a:t>
            </a:r>
          </a:p>
          <a:p>
            <a:pPr marL="0" indent="0">
              <a:buNone/>
            </a:pPr>
            <a:endParaRPr lang="en-IN" sz="2000" dirty="0" smtClean="0"/>
          </a:p>
          <a:p>
            <a:r>
              <a:rPr lang="en-IN" b="1" dirty="0"/>
              <a:t>Service </a:t>
            </a:r>
            <a:r>
              <a:rPr lang="en-IN" b="1" dirty="0" smtClean="0"/>
              <a:t>Layer:</a:t>
            </a:r>
          </a:p>
          <a:p>
            <a:pPr marL="0" indent="0">
              <a:buNone/>
            </a:pPr>
            <a:r>
              <a:rPr lang="en-IN" b="1" dirty="0"/>
              <a:t> </a:t>
            </a:r>
            <a:r>
              <a:rPr lang="en-IN" b="1" dirty="0" smtClean="0"/>
              <a:t>  </a:t>
            </a:r>
            <a:r>
              <a:rPr lang="en-IN" sz="1800" b="1" dirty="0" smtClean="0"/>
              <a:t>- </a:t>
            </a:r>
            <a:r>
              <a:rPr lang="en-IN" sz="1800" dirty="0" smtClean="0"/>
              <a:t>Provides </a:t>
            </a:r>
            <a:r>
              <a:rPr lang="en-IN" sz="1800" dirty="0"/>
              <a:t>system functionalities: </a:t>
            </a:r>
            <a:r>
              <a:rPr lang="en-IN" sz="1800" dirty="0" smtClean="0"/>
              <a:t>Simulation, monitoring, prediction, optimization</a:t>
            </a:r>
            <a:endParaRPr lang="en-IN" sz="18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Tx/>
              <a:buChar char="-"/>
            </a:pPr>
            <a:endParaRPr lang="en-IN" sz="2000" dirty="0"/>
          </a:p>
          <a:p>
            <a:pPr marL="0" indent="0">
              <a:buFont typeface="Wingdings" pitchFamily="2" charset="2"/>
              <a:buNone/>
              <a:defRPr/>
            </a:pP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838200"/>
            <a:ext cx="9956800" cy="5864352"/>
          </a:xfrm>
        </p:spPr>
        <p:txBody>
          <a:bodyPr/>
          <a:lstStyle/>
          <a:p>
            <a:r>
              <a:rPr lang="en-IN" sz="2000" b="1" dirty="0"/>
              <a:t>Security </a:t>
            </a:r>
            <a:r>
              <a:rPr lang="en-IN" sz="2000" b="1" dirty="0" smtClean="0"/>
              <a:t>Layer:</a:t>
            </a:r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IN" sz="1800" dirty="0">
                <a:latin typeface="+mj-lt"/>
              </a:rPr>
              <a:t> </a:t>
            </a:r>
            <a:r>
              <a:rPr lang="en-IN" sz="1800" dirty="0" smtClean="0">
                <a:latin typeface="+mj-lt"/>
              </a:rPr>
              <a:t>  - Ensures </a:t>
            </a:r>
            <a:r>
              <a:rPr lang="en-US" sz="1800" dirty="0" smtClean="0">
                <a:latin typeface="+mj-lt"/>
              </a:rPr>
              <a:t>i</a:t>
            </a:r>
            <a:r>
              <a:rPr lang="en-US" altLang="en-US" sz="1800" dirty="0" smtClean="0">
                <a:latin typeface="+mj-lt"/>
              </a:rPr>
              <a:t>dentity </a:t>
            </a:r>
            <a:r>
              <a:rPr lang="en-US" altLang="en-US" sz="1800" dirty="0">
                <a:latin typeface="+mj-lt"/>
              </a:rPr>
              <a:t>&amp; </a:t>
            </a:r>
            <a:r>
              <a:rPr lang="en-US" altLang="en-US" sz="1800" dirty="0" smtClean="0">
                <a:latin typeface="+mj-lt"/>
              </a:rPr>
              <a:t>access </a:t>
            </a:r>
            <a:r>
              <a:rPr lang="en-US" altLang="en-US" sz="1800" dirty="0">
                <a:latin typeface="+mj-lt"/>
              </a:rPr>
              <a:t>c</a:t>
            </a:r>
            <a:r>
              <a:rPr lang="en-US" altLang="en-US" sz="1800" dirty="0" smtClean="0">
                <a:latin typeface="+mj-lt"/>
              </a:rPr>
              <a:t>ontrol, encryption, privacy protection, </a:t>
            </a:r>
            <a:r>
              <a:rPr lang="en-US" sz="1800" dirty="0" smtClean="0">
                <a:latin typeface="+mj-lt"/>
              </a:rPr>
              <a:t>i</a:t>
            </a:r>
            <a:r>
              <a:rPr lang="en-US" altLang="en-US" sz="1800" dirty="0" smtClean="0">
                <a:latin typeface="+mj-lt"/>
              </a:rPr>
              <a:t>ntrusion detection</a:t>
            </a:r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endParaRPr lang="en-US" altLang="en-US" sz="1800" dirty="0" smtClean="0">
              <a:latin typeface="+mj-lt"/>
            </a:endParaRPr>
          </a:p>
          <a:p>
            <a:r>
              <a:rPr lang="en-IN" sz="2000" b="1" dirty="0"/>
              <a:t>Connectivity Layer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</a:t>
            </a:r>
            <a:r>
              <a:rPr lang="en-IN" sz="1800" dirty="0" smtClean="0"/>
              <a:t>- Enables </a:t>
            </a:r>
            <a:r>
              <a:rPr lang="en-IN" sz="1800" dirty="0"/>
              <a:t>communication: </a:t>
            </a:r>
            <a:r>
              <a:rPr lang="en-IN" sz="1800" dirty="0" smtClean="0"/>
              <a:t>Inter-twin connectivity and intra-twin connectivity</a:t>
            </a: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011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646113"/>
            <a:ext cx="6547757" cy="560863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5147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838200"/>
            <a:ext cx="10820400" cy="6019800"/>
          </a:xfrm>
        </p:spPr>
        <p:txBody>
          <a:bodyPr/>
          <a:lstStyle/>
          <a:p>
            <a:pPr marL="0" indent="0" algn="just">
              <a:buNone/>
            </a:pPr>
            <a:r>
              <a:rPr lang="en-IN" sz="2000" b="1" dirty="0" smtClean="0"/>
              <a:t>Step </a:t>
            </a:r>
            <a:r>
              <a:rPr lang="en-IN" sz="2000" b="1" dirty="0"/>
              <a:t>1: Data </a:t>
            </a:r>
            <a:r>
              <a:rPr lang="en-IN" sz="2000" b="1" dirty="0" smtClean="0"/>
              <a:t>Generation</a:t>
            </a:r>
            <a:r>
              <a:rPr lang="en-IN" sz="2000" dirty="0" smtClean="0"/>
              <a:t> </a:t>
            </a:r>
            <a:r>
              <a:rPr lang="en-IN" sz="1800" dirty="0" smtClean="0"/>
              <a:t>- Sensors </a:t>
            </a:r>
            <a:r>
              <a:rPr lang="en-IN" sz="1800" dirty="0"/>
              <a:t>collect real-time data </a:t>
            </a:r>
          </a:p>
          <a:p>
            <a:pPr marL="0" indent="0" algn="just">
              <a:buNone/>
            </a:pPr>
            <a:endParaRPr lang="en-IN" sz="2000" dirty="0" smtClean="0"/>
          </a:p>
          <a:p>
            <a:pPr marL="0" indent="0" algn="just">
              <a:buNone/>
            </a:pPr>
            <a:r>
              <a:rPr lang="en-IN" sz="2000" b="1" dirty="0" smtClean="0"/>
              <a:t>Step </a:t>
            </a:r>
            <a:r>
              <a:rPr lang="en-IN" sz="2000" b="1" dirty="0"/>
              <a:t>2: Data </a:t>
            </a:r>
            <a:r>
              <a:rPr lang="en-IN" sz="2000" b="1" dirty="0" smtClean="0"/>
              <a:t>Processing</a:t>
            </a:r>
            <a:r>
              <a:rPr lang="en-IN" sz="2000" dirty="0" smtClean="0"/>
              <a:t> </a:t>
            </a:r>
            <a:r>
              <a:rPr lang="en-IN" sz="1800" dirty="0" smtClean="0"/>
              <a:t>- Data </a:t>
            </a:r>
            <a:r>
              <a:rPr lang="en-IN" sz="1800" dirty="0"/>
              <a:t>layer stores and processes information </a:t>
            </a:r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r>
              <a:rPr lang="en-IN" sz="2000" b="1" dirty="0" smtClean="0"/>
              <a:t>Step </a:t>
            </a:r>
            <a:r>
              <a:rPr lang="en-IN" sz="2000" b="1" dirty="0"/>
              <a:t>3: Digital Twin </a:t>
            </a:r>
            <a:r>
              <a:rPr lang="en-IN" sz="2000" b="1" dirty="0" smtClean="0"/>
              <a:t>Creation</a:t>
            </a:r>
            <a:r>
              <a:rPr lang="en-IN" sz="2000" dirty="0" smtClean="0"/>
              <a:t> </a:t>
            </a:r>
            <a:r>
              <a:rPr lang="en-IN" sz="1800" dirty="0" smtClean="0"/>
              <a:t>- Virtual </a:t>
            </a:r>
            <a:r>
              <a:rPr lang="en-IN" sz="1800" dirty="0"/>
              <a:t>model replicates physical system </a:t>
            </a:r>
          </a:p>
          <a:p>
            <a:pPr marL="0" indent="0" algn="just">
              <a:buNone/>
            </a:pPr>
            <a:endParaRPr lang="en-IN" sz="2000" b="1" dirty="0" smtClean="0"/>
          </a:p>
          <a:p>
            <a:pPr marL="0" indent="0" algn="just">
              <a:buNone/>
            </a:pPr>
            <a:r>
              <a:rPr lang="en-IN" sz="2000" b="1" dirty="0" smtClean="0"/>
              <a:t>Step </a:t>
            </a:r>
            <a:r>
              <a:rPr lang="en-IN" sz="2000" b="1" dirty="0"/>
              <a:t>4: Analysis &amp; </a:t>
            </a:r>
            <a:r>
              <a:rPr lang="en-IN" sz="2000" b="1" dirty="0" smtClean="0"/>
              <a:t>Services</a:t>
            </a:r>
            <a:r>
              <a:rPr lang="en-IN" sz="2000" dirty="0" smtClean="0"/>
              <a:t> - </a:t>
            </a:r>
            <a:r>
              <a:rPr lang="en-IN" sz="1800" dirty="0" smtClean="0"/>
              <a:t>Simulation</a:t>
            </a:r>
            <a:r>
              <a:rPr lang="en-IN" sz="1800" dirty="0"/>
              <a:t>, prediction, monitoring performed </a:t>
            </a:r>
          </a:p>
          <a:p>
            <a:pPr marL="0" indent="0" algn="just">
              <a:buNone/>
            </a:pPr>
            <a:endParaRPr lang="en-IN" sz="2000" b="1" dirty="0" smtClean="0"/>
          </a:p>
          <a:p>
            <a:pPr marL="0" indent="0" algn="just">
              <a:buNone/>
            </a:pPr>
            <a:r>
              <a:rPr lang="en-IN" sz="2000" b="1" dirty="0" smtClean="0"/>
              <a:t>Step </a:t>
            </a:r>
            <a:r>
              <a:rPr lang="en-IN" sz="2000" b="1" dirty="0"/>
              <a:t>5: Secure </a:t>
            </a:r>
            <a:r>
              <a:rPr lang="en-IN" sz="2000" b="1" dirty="0" smtClean="0"/>
              <a:t>Communication</a:t>
            </a:r>
            <a:r>
              <a:rPr lang="en-IN" sz="2000" dirty="0" smtClean="0"/>
              <a:t> </a:t>
            </a:r>
            <a:r>
              <a:rPr lang="en-IN" dirty="0" smtClean="0"/>
              <a:t>- </a:t>
            </a:r>
            <a:r>
              <a:rPr lang="en-IN" sz="1800" dirty="0" smtClean="0"/>
              <a:t>Security </a:t>
            </a:r>
            <a:r>
              <a:rPr lang="en-IN" sz="1800" dirty="0"/>
              <a:t>layer ensures safe data </a:t>
            </a:r>
            <a:r>
              <a:rPr lang="en-IN" sz="1800" dirty="0" smtClean="0"/>
              <a:t>handling, connectivity </a:t>
            </a:r>
            <a:r>
              <a:rPr lang="en-IN" sz="1800" dirty="0"/>
              <a:t>layer enables system interaction </a:t>
            </a:r>
          </a:p>
          <a:p>
            <a:pPr marL="0" indent="0" algn="just">
              <a:buNone/>
            </a:pPr>
            <a:endParaRPr lang="en-IN" sz="2000" b="1" dirty="0" smtClean="0"/>
          </a:p>
          <a:p>
            <a:pPr marL="0" indent="0" algn="just">
              <a:buNone/>
            </a:pPr>
            <a:r>
              <a:rPr lang="en-IN" sz="2000" b="1" dirty="0" smtClean="0"/>
              <a:t>Step </a:t>
            </a:r>
            <a:r>
              <a:rPr lang="en-IN" sz="2000" b="1" dirty="0"/>
              <a:t>6: Feedback &amp; </a:t>
            </a:r>
            <a:r>
              <a:rPr lang="en-IN" sz="2000" b="1" dirty="0" smtClean="0"/>
              <a:t>Control</a:t>
            </a:r>
            <a:r>
              <a:rPr lang="en-IN" sz="2000" dirty="0" smtClean="0"/>
              <a:t> - </a:t>
            </a:r>
            <a:r>
              <a:rPr lang="en-IN" sz="1800" dirty="0" smtClean="0"/>
              <a:t>Insights </a:t>
            </a:r>
            <a:r>
              <a:rPr lang="en-IN" sz="1800" dirty="0"/>
              <a:t>sent back to physical system</a:t>
            </a:r>
          </a:p>
        </p:txBody>
      </p:sp>
      <p:sp>
        <p:nvSpPr>
          <p:cNvPr id="14340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6C7FCF3-9B07-47C1-B124-5E0BCBAA2F73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591800" cy="563562"/>
          </a:xfrm>
        </p:spPr>
        <p:txBody>
          <a:bodyPr/>
          <a:lstStyle/>
          <a:p>
            <a:pPr algn="ctr">
              <a:defRPr/>
            </a:pPr>
            <a:r>
              <a:rPr lang="en-US" dirty="0"/>
              <a:t> </a:t>
            </a:r>
            <a:r>
              <a:rPr lang="en-US" dirty="0" smtClean="0"/>
              <a:t>Advantages and disadvantages</a:t>
            </a:r>
            <a:endParaRPr lang="en-IN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76BEFAB-5A6D-44E3-B375-AE040F99C82D}" type="slidenum">
              <a:rPr lang="en-US" altLang="en-US"/>
              <a:pPr/>
              <a:t>10</a:t>
            </a:fld>
            <a:endParaRPr lang="en-US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546988"/>
              </p:ext>
            </p:extLst>
          </p:nvPr>
        </p:nvGraphicFramePr>
        <p:xfrm>
          <a:off x="823175" y="1143003"/>
          <a:ext cx="10001250" cy="5111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25"/>
                <a:gridCol w="5000625"/>
              </a:tblGrid>
              <a:tr h="54768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Advantages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Disadvantages</a:t>
                      </a:r>
                      <a:endParaRPr lang="en-IN" sz="2400" dirty="0"/>
                    </a:p>
                  </a:txBody>
                  <a:tcPr/>
                </a:tc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Ensures data trust and reliability using AI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High computational complexity</a:t>
                      </a:r>
                      <a:endParaRPr lang="en-IN" sz="2200" b="0" dirty="0"/>
                    </a:p>
                  </a:txBody>
                  <a:tcPr/>
                </a:tc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Provides secure and tamper-proof storage with </a:t>
                      </a:r>
                      <a:r>
                        <a:rPr lang="en-IN" sz="2200" b="0" dirty="0" err="1" smtClean="0"/>
                        <a:t>blockchain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Latency issues in real-time applications</a:t>
                      </a:r>
                      <a:endParaRPr lang="en-IN" sz="2200" b="0" dirty="0"/>
                    </a:p>
                  </a:txBody>
                  <a:tcPr/>
                </a:tc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Enables real-time monitoring and decision-making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Requires high infrastructure and cost</a:t>
                      </a:r>
                      <a:endParaRPr lang="en-IN" sz="2200" b="0" dirty="0"/>
                    </a:p>
                  </a:txBody>
                  <a:tcPr/>
                </a:tc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Improves system accuracy and efficiency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Integration of multiple technologies is complex</a:t>
                      </a:r>
                      <a:endParaRPr lang="en-IN" sz="2200" b="0" dirty="0"/>
                    </a:p>
                  </a:txBody>
                  <a:tcPr/>
                </a:tc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Reduces risk of malicious or false data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 smtClean="0"/>
                        <a:t>Privacy concerns due to data transparency</a:t>
                      </a:r>
                      <a:endParaRPr lang="en-IN" sz="2200" b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9956800" cy="6858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APPLICATIONS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C9C7A4F-D22A-4129-93F6-93E5D5E589C0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120775"/>
            <a:ext cx="10363200" cy="4873625"/>
          </a:xfrm>
        </p:spPr>
        <p:txBody>
          <a:bodyPr/>
          <a:lstStyle/>
          <a:p>
            <a:r>
              <a:rPr lang="en-US" altLang="en-US" dirty="0" smtClean="0"/>
              <a:t>Smart Cities: </a:t>
            </a:r>
            <a:r>
              <a:rPr lang="en-IN" dirty="0"/>
              <a:t>Traffic management, infrastructure </a:t>
            </a:r>
            <a:r>
              <a:rPr lang="en-IN" dirty="0" smtClean="0"/>
              <a:t>monitoring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altLang="en-US" dirty="0" smtClean="0"/>
              <a:t>Healthcare: </a:t>
            </a:r>
            <a:r>
              <a:rPr lang="en-IN" dirty="0"/>
              <a:t>Patient monitoring, predictive </a:t>
            </a:r>
            <a:r>
              <a:rPr lang="en-IN" dirty="0" smtClean="0"/>
              <a:t>diagnosis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altLang="en-US" dirty="0" smtClean="0"/>
              <a:t>Industrial </a:t>
            </a:r>
            <a:r>
              <a:rPr lang="en-IN" altLang="en-US" dirty="0" err="1" smtClean="0"/>
              <a:t>IoT</a:t>
            </a:r>
            <a:r>
              <a:rPr lang="en-IN" altLang="en-US" dirty="0" smtClean="0"/>
              <a:t>: </a:t>
            </a:r>
            <a:r>
              <a:rPr lang="en-IN" dirty="0"/>
              <a:t>Predictive maintenance, fault </a:t>
            </a:r>
            <a:r>
              <a:rPr lang="en-IN" dirty="0" smtClean="0"/>
              <a:t>detection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altLang="en-US" dirty="0" smtClean="0"/>
              <a:t>Supply </a:t>
            </a:r>
            <a:r>
              <a:rPr lang="en-IN" altLang="en-US" dirty="0"/>
              <a:t>C</a:t>
            </a:r>
            <a:r>
              <a:rPr lang="en-IN" altLang="en-US" dirty="0" smtClean="0"/>
              <a:t>hain Management: </a:t>
            </a:r>
            <a:r>
              <a:rPr lang="en-IN" dirty="0" smtClean="0"/>
              <a:t>Transparency</a:t>
            </a:r>
            <a:r>
              <a:rPr lang="en-IN" dirty="0"/>
              <a:t>, tracking, fraud </a:t>
            </a:r>
            <a:r>
              <a:rPr lang="en-IN" dirty="0" smtClean="0"/>
              <a:t>prevention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altLang="en-US" dirty="0" smtClean="0"/>
              <a:t>Energy Systems: </a:t>
            </a:r>
            <a:r>
              <a:rPr lang="en-IN" dirty="0"/>
              <a:t>Smart grids, energy </a:t>
            </a:r>
            <a:r>
              <a:rPr lang="en-IN" dirty="0" smtClean="0"/>
              <a:t>optimization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altLang="en-US" dirty="0" smtClean="0"/>
              <a:t>Transportation: </a:t>
            </a:r>
            <a:r>
              <a:rPr lang="en-IN" dirty="0"/>
              <a:t>Autonomous vehicles, fleet monitoring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9956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C</a:t>
            </a:r>
            <a:r>
              <a:rPr lang="en-IN" dirty="0"/>
              <a:t>ONCLUSION</a:t>
            </a:r>
            <a:endParaRPr lang="en-US" dirty="0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724884" y="1447800"/>
            <a:ext cx="10515600" cy="4953000"/>
          </a:xfrm>
        </p:spPr>
        <p:txBody>
          <a:bodyPr/>
          <a:lstStyle/>
          <a:p>
            <a:pPr algn="just"/>
            <a:r>
              <a:rPr lang="en-IN" dirty="0"/>
              <a:t>Digital Twin systems depend on accurate and trustworthy data </a:t>
            </a:r>
            <a:endParaRPr lang="en-IN" dirty="0" smtClean="0"/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AI enables intelligent trust evaluation and anomaly detection </a:t>
            </a:r>
            <a:endParaRPr lang="en-IN" dirty="0" smtClean="0"/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 err="1"/>
              <a:t>Blockchain</a:t>
            </a:r>
            <a:r>
              <a:rPr lang="en-IN" dirty="0"/>
              <a:t> ensures secure, transparent, and tamper-proof data </a:t>
            </a:r>
            <a:r>
              <a:rPr lang="en-IN" dirty="0" smtClean="0"/>
              <a:t>storage</a:t>
            </a:r>
          </a:p>
          <a:p>
            <a:pPr marL="0" indent="0" algn="just">
              <a:buNone/>
            </a:pPr>
            <a:r>
              <a:rPr lang="en-IN" dirty="0" smtClean="0"/>
              <a:t> </a:t>
            </a:r>
            <a:endParaRPr lang="en-IN" dirty="0"/>
          </a:p>
          <a:p>
            <a:pPr algn="just"/>
            <a:r>
              <a:rPr lang="en-IN" dirty="0"/>
              <a:t>Integration improves system reliability, security, and </a:t>
            </a:r>
            <a:r>
              <a:rPr lang="en-IN" dirty="0" smtClean="0"/>
              <a:t>decision-making</a:t>
            </a:r>
          </a:p>
          <a:p>
            <a:pPr marL="0" indent="0" algn="just">
              <a:buNone/>
            </a:pPr>
            <a:r>
              <a:rPr lang="en-IN" dirty="0" smtClean="0"/>
              <a:t> </a:t>
            </a:r>
            <a:endParaRPr lang="en-IN" dirty="0"/>
          </a:p>
          <a:p>
            <a:pPr algn="just"/>
            <a:r>
              <a:rPr lang="en-IN" dirty="0"/>
              <a:t>Provides a robust solution for modern smart systems </a:t>
            </a:r>
          </a:p>
          <a:p>
            <a:endParaRPr 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2D983B6-E938-4424-BED1-4178B5F49D01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715962"/>
          </a:xfrm>
        </p:spPr>
        <p:txBody>
          <a:bodyPr/>
          <a:lstStyle/>
          <a:p>
            <a:pPr>
              <a:defRPr/>
            </a:pPr>
            <a:r>
              <a:rPr lang="en-US" dirty="0"/>
              <a:t>                                     FUTURE WORK</a:t>
            </a:r>
            <a:endParaRPr lang="en-IN" dirty="0"/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527175"/>
            <a:ext cx="10229850" cy="5330825"/>
          </a:xfrm>
        </p:spPr>
        <p:txBody>
          <a:bodyPr/>
          <a:lstStyle/>
          <a:p>
            <a:pPr algn="just"/>
            <a:r>
              <a:rPr lang="en-IN" dirty="0" smtClean="0"/>
              <a:t>Scalable </a:t>
            </a:r>
            <a:r>
              <a:rPr lang="en-IN" dirty="0" err="1" smtClean="0"/>
              <a:t>Blockchain</a:t>
            </a:r>
            <a:r>
              <a:rPr lang="en-IN" dirty="0" smtClean="0"/>
              <a:t> Solutions: </a:t>
            </a:r>
            <a:r>
              <a:rPr lang="en-IN" dirty="0"/>
              <a:t>Improve </a:t>
            </a:r>
            <a:r>
              <a:rPr lang="en-IN" dirty="0" err="1"/>
              <a:t>blockchain</a:t>
            </a:r>
            <a:r>
              <a:rPr lang="en-IN" dirty="0"/>
              <a:t> performance to handle large-scale data with reduced latency and higher throughput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Advanced AI Models: Use deep learning and federated learning to enhance accuracy in trust evaluation and anomaly detection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dirty="0" smtClean="0"/>
              <a:t>Integration </a:t>
            </a:r>
            <a:r>
              <a:rPr lang="en-IN" dirty="0"/>
              <a:t>Edge Computing: Process data closer to devices to reduce delay and improve real-time system performance.</a:t>
            </a:r>
          </a:p>
        </p:txBody>
      </p:sp>
      <p:sp>
        <p:nvSpPr>
          <p:cNvPr id="19460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114EDBC-7F5B-4F75-8C14-4F3D9200C9D2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9956800" cy="6858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References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10744200" cy="5791200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[1] Y. Zhang, X. Liu, and H. Wang, “</a:t>
            </a:r>
            <a:r>
              <a:rPr lang="en-IN" dirty="0" err="1"/>
              <a:t>Blockchain</a:t>
            </a:r>
            <a:r>
              <a:rPr lang="en-IN" dirty="0"/>
              <a:t>-Based Trust Mechanism for Digital Twin in Industrial </a:t>
            </a:r>
            <a:r>
              <a:rPr lang="en-IN" dirty="0" err="1"/>
              <a:t>IoT</a:t>
            </a:r>
            <a:r>
              <a:rPr lang="en-IN" dirty="0"/>
              <a:t>,” </a:t>
            </a:r>
            <a:r>
              <a:rPr lang="en-IN" i="1" dirty="0"/>
              <a:t>Future Generation Computer Systems</a:t>
            </a:r>
            <a:r>
              <a:rPr lang="en-IN" dirty="0"/>
              <a:t>, vol. 130, pp. 1–12, 2022.</a:t>
            </a:r>
          </a:p>
          <a:p>
            <a:pPr marL="0" indent="0" algn="just">
              <a:buNone/>
            </a:pPr>
            <a:r>
              <a:rPr lang="en-IN" dirty="0"/>
              <a:t>[2] J. Chen, Q. Li, and K. Zhao, “TFL-DT: A Trust Evaluation Scheme for Federated Learning in Digital Twin,” </a:t>
            </a:r>
            <a:r>
              <a:rPr lang="en-IN" i="1" dirty="0"/>
              <a:t>IEEE Access</a:t>
            </a:r>
            <a:r>
              <a:rPr lang="en-IN" dirty="0"/>
              <a:t>, vol. 11, pp. 112345–112356, 2023.</a:t>
            </a:r>
          </a:p>
          <a:p>
            <a:pPr marL="0" indent="0" algn="just">
              <a:buNone/>
            </a:pPr>
            <a:r>
              <a:rPr lang="en-IN" dirty="0"/>
              <a:t>[3] A. Kumar, R. Singh, and S. Patel, “</a:t>
            </a:r>
            <a:r>
              <a:rPr lang="en-IN" dirty="0" err="1"/>
              <a:t>Blockchain</a:t>
            </a:r>
            <a:r>
              <a:rPr lang="en-IN" dirty="0"/>
              <a:t>-Enabled Digital Twin Framework for Smart Cities,” </a:t>
            </a:r>
            <a:r>
              <a:rPr lang="en-IN" i="1" dirty="0"/>
              <a:t>IEEE Internet of Things Journal</a:t>
            </a:r>
            <a:r>
              <a:rPr lang="en-IN" dirty="0"/>
              <a:t>, vol. 10, no. 5, pp. 4567–4578, 2023.</a:t>
            </a:r>
          </a:p>
          <a:p>
            <a:pPr marL="0" indent="0" algn="just">
              <a:buNone/>
            </a:pPr>
            <a:r>
              <a:rPr lang="en-IN" dirty="0"/>
              <a:t>[4] M. Rahman, S. Islam, and T. Ahmed, “</a:t>
            </a:r>
            <a:r>
              <a:rPr lang="en-IN" dirty="0" err="1"/>
              <a:t>Blockchain</a:t>
            </a:r>
            <a:r>
              <a:rPr lang="en-IN" dirty="0"/>
              <a:t>-Based Collaborative Digital Twin Framework for Healthcare Systems,” </a:t>
            </a:r>
            <a:r>
              <a:rPr lang="en-IN" i="1" dirty="0"/>
              <a:t>IEEE Access</a:t>
            </a:r>
            <a:r>
              <a:rPr lang="en-IN" dirty="0"/>
              <a:t>, vol. 9, pp. 145678–145689, 2021</a:t>
            </a:r>
            <a:r>
              <a:rPr lang="en-IN" dirty="0" smtClean="0"/>
              <a:t>.</a:t>
            </a:r>
          </a:p>
          <a:p>
            <a:pPr marL="0" indent="0" algn="just">
              <a:buNone/>
            </a:pPr>
            <a:r>
              <a:rPr lang="en-IN" dirty="0"/>
              <a:t>[5] L. Wang, Y. Zhou, and H. Chen, “</a:t>
            </a:r>
            <a:r>
              <a:rPr lang="en-IN" dirty="0" err="1"/>
              <a:t>Causio-TwinChain</a:t>
            </a:r>
            <a:r>
              <a:rPr lang="en-IN" dirty="0"/>
              <a:t>: AI-Driven Trust and Security Model for Digital Twins,” </a:t>
            </a:r>
            <a:r>
              <a:rPr lang="en-IN" i="1" dirty="0"/>
              <a:t>Scientific Reports</a:t>
            </a:r>
            <a:r>
              <a:rPr lang="en-IN" dirty="0"/>
              <a:t>, vol. 14, pp. 1–12, 2024.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AB2DF98-6BEF-4328-B994-32F9E7364367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642893"/>
            <a:ext cx="10515600" cy="5910307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[6] T. Nguyen, D. Kim, and J. Park, “</a:t>
            </a:r>
            <a:r>
              <a:rPr lang="en-IN" dirty="0" err="1"/>
              <a:t>Blockchain</a:t>
            </a:r>
            <a:r>
              <a:rPr lang="en-IN" dirty="0"/>
              <a:t> in Digital Twin: A Comprehensive Survey,” </a:t>
            </a:r>
            <a:r>
              <a:rPr lang="en-IN" i="1" dirty="0"/>
              <a:t>ACM Computing Surveys</a:t>
            </a:r>
            <a:r>
              <a:rPr lang="en-IN" dirty="0"/>
              <a:t>, vol. 56, no. 3, pp. 1–34, 2023.</a:t>
            </a:r>
          </a:p>
          <a:p>
            <a:pPr marL="0" indent="0" algn="just">
              <a:buNone/>
            </a:pPr>
            <a:r>
              <a:rPr lang="en-IN" dirty="0"/>
              <a:t>[7] P. Sharma, R. Gupta, and S. </a:t>
            </a:r>
            <a:r>
              <a:rPr lang="en-IN" dirty="0" err="1"/>
              <a:t>Verma</a:t>
            </a:r>
            <a:r>
              <a:rPr lang="en-IN" dirty="0"/>
              <a:t>, “</a:t>
            </a:r>
            <a:r>
              <a:rPr lang="en-IN" dirty="0" err="1"/>
              <a:t>Blockchain</a:t>
            </a:r>
            <a:r>
              <a:rPr lang="en-IN" dirty="0"/>
              <a:t>-Based Digital Twin for Industrial </a:t>
            </a:r>
            <a:r>
              <a:rPr lang="en-IN" dirty="0" err="1"/>
              <a:t>IoT</a:t>
            </a:r>
            <a:r>
              <a:rPr lang="en-IN" dirty="0"/>
              <a:t> Security,” </a:t>
            </a:r>
            <a:r>
              <a:rPr lang="en-IN" i="1" dirty="0"/>
              <a:t>IEEE Transactions on Industrial Informatics</a:t>
            </a:r>
            <a:r>
              <a:rPr lang="en-IN" dirty="0"/>
              <a:t>, vol. 19, no. 2, pp. 1234–1243, 2023.</a:t>
            </a:r>
          </a:p>
          <a:p>
            <a:pPr marL="0" indent="0" algn="just">
              <a:buNone/>
            </a:pPr>
            <a:r>
              <a:rPr lang="en-IN" dirty="0"/>
              <a:t>[8] X. Li, Y. Zhang, and Z. Chen, “Trust Management in </a:t>
            </a:r>
            <a:r>
              <a:rPr lang="en-IN" dirty="0" err="1"/>
              <a:t>Blockchain</a:t>
            </a:r>
            <a:r>
              <a:rPr lang="en-IN" dirty="0"/>
              <a:t>-Based </a:t>
            </a:r>
            <a:r>
              <a:rPr lang="en-IN" dirty="0" err="1"/>
              <a:t>IoT</a:t>
            </a:r>
            <a:r>
              <a:rPr lang="en-IN" dirty="0"/>
              <a:t> Systems,” </a:t>
            </a:r>
            <a:r>
              <a:rPr lang="en-IN" i="1" dirty="0"/>
              <a:t>IEEE Internet of Things Journal</a:t>
            </a:r>
            <a:r>
              <a:rPr lang="en-IN" dirty="0"/>
              <a:t>, vol. 8, no. 6, pp. 4560–4570, 2021.</a:t>
            </a:r>
          </a:p>
          <a:p>
            <a:pPr marL="0" indent="0" algn="just">
              <a:buNone/>
            </a:pPr>
            <a:r>
              <a:rPr lang="en-IN" dirty="0"/>
              <a:t>[9] V. Kumar, P. Reddy, and M. Singh, “AI-Based Trust Evaluation Models in Distributed Systems,” </a:t>
            </a:r>
            <a:r>
              <a:rPr lang="en-IN" i="1" dirty="0"/>
              <a:t>IEEE Access</a:t>
            </a:r>
            <a:r>
              <a:rPr lang="en-IN" dirty="0"/>
              <a:t>, vol. 10, pp. 98765–98776, 2022.</a:t>
            </a:r>
          </a:p>
          <a:p>
            <a:pPr marL="0" indent="0" algn="just">
              <a:buNone/>
            </a:pPr>
            <a:r>
              <a:rPr lang="en-IN" dirty="0"/>
              <a:t>[10] N. Patel, K. Shah, and R. Mehta, “Secure Digital Twin Framework Using AI and </a:t>
            </a:r>
            <a:r>
              <a:rPr lang="en-IN" dirty="0" err="1"/>
              <a:t>Blockchain</a:t>
            </a:r>
            <a:r>
              <a:rPr lang="en-IN" dirty="0"/>
              <a:t>,” </a:t>
            </a:r>
            <a:r>
              <a:rPr lang="en-IN" i="1" dirty="0"/>
              <a:t>IEEE Access</a:t>
            </a:r>
            <a:r>
              <a:rPr lang="en-IN" dirty="0"/>
              <a:t>, vol. 11, pp. 76543–76555, 2023.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6F131BC-F7C7-4DEA-90B6-32CF77105A53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609600"/>
            <a:ext cx="10668000" cy="60198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[11] S. Wan, J. Lu, P. Fan, and K. B. </a:t>
            </a:r>
            <a:r>
              <a:rPr lang="en-US" dirty="0" err="1"/>
              <a:t>Letaief</a:t>
            </a:r>
            <a:r>
              <a:rPr lang="en-US" dirty="0"/>
              <a:t>, “Toward Smart Cities: Digital Twin-Enabled Internet of Things With </a:t>
            </a:r>
            <a:r>
              <a:rPr lang="en-US" dirty="0" err="1"/>
              <a:t>Blockchain</a:t>
            </a:r>
            <a:r>
              <a:rPr lang="en-US" dirty="0"/>
              <a:t> and Artificial Intelligence,” </a:t>
            </a:r>
            <a:r>
              <a:rPr lang="en-US" i="1" dirty="0"/>
              <a:t>IEEE Internet of Things Journal</a:t>
            </a:r>
            <a:r>
              <a:rPr lang="en-US" dirty="0"/>
              <a:t>, vol. 9, no. 14, pp. 12345–12356, 2022</a:t>
            </a:r>
            <a:r>
              <a:rPr lang="en-US" dirty="0" smtClean="0"/>
              <a:t>.</a:t>
            </a:r>
            <a:endParaRPr lang="en-IN" dirty="0" smtClean="0"/>
          </a:p>
          <a:p>
            <a:pPr marL="0" indent="0" algn="just">
              <a:buNone/>
            </a:pPr>
            <a:r>
              <a:rPr lang="en-IN" dirty="0" smtClean="0"/>
              <a:t>[12] M. Grieves and J. Vickers, “Digital Twin: Mitigating Unpredictable, Undesirable Emergent </a:t>
            </a:r>
            <a:r>
              <a:rPr lang="en-IN" dirty="0" err="1" smtClean="0"/>
              <a:t>Behavior</a:t>
            </a:r>
            <a:r>
              <a:rPr lang="en-IN" dirty="0" smtClean="0"/>
              <a:t> in Complex Systems,” </a:t>
            </a:r>
            <a:r>
              <a:rPr lang="en-IN" i="1" dirty="0" smtClean="0"/>
              <a:t>IEEE Systems Journal</a:t>
            </a:r>
            <a:r>
              <a:rPr lang="en-IN" dirty="0" smtClean="0"/>
              <a:t>, vol. 10, no. 3, pp. 1–8, 2017.</a:t>
            </a:r>
          </a:p>
          <a:p>
            <a:pPr marL="0" indent="0" algn="just">
              <a:buNone/>
            </a:pPr>
            <a:r>
              <a:rPr lang="en-US" dirty="0" smtClean="0"/>
              <a:t>[</a:t>
            </a:r>
            <a:r>
              <a:rPr lang="en-US" dirty="0"/>
              <a:t>13] H. Ning, H. Liu, and J. Ma, “Cyber-Physical-Social Based Security Architecture for Future Internet of Things,” </a:t>
            </a:r>
            <a:r>
              <a:rPr lang="en-US" i="1" dirty="0"/>
              <a:t>IEEE Internet of Things Journal</a:t>
            </a:r>
            <a:r>
              <a:rPr lang="en-US" dirty="0"/>
              <a:t>, vol. 6, no. 2, pp. 1–12, 2019.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[14] K. Zhang, Y. Mao, S. </a:t>
            </a:r>
            <a:r>
              <a:rPr lang="en-US" dirty="0" err="1"/>
              <a:t>Leng</a:t>
            </a:r>
            <a:r>
              <a:rPr lang="en-US" dirty="0"/>
              <a:t>, Y. He, and Y. Zhang, “Mobile Edge Computing for Intelligent </a:t>
            </a:r>
            <a:r>
              <a:rPr lang="en-US" dirty="0" err="1"/>
              <a:t>IoT</a:t>
            </a:r>
            <a:r>
              <a:rPr lang="en-US" dirty="0"/>
              <a:t> Systems: Trust and Security Perspective,” </a:t>
            </a:r>
            <a:r>
              <a:rPr lang="en-US" i="1" dirty="0"/>
              <a:t>IEEE Communications Magazine</a:t>
            </a:r>
            <a:r>
              <a:rPr lang="en-US" dirty="0"/>
              <a:t>, vol. 56, no. 10, pp. 1–7, 2018</a:t>
            </a: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153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685800"/>
            <a:ext cx="10668000" cy="4873752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[15] Q. Xu, Z. Su, and Y. Wang, “</a:t>
            </a:r>
            <a:r>
              <a:rPr lang="en-US" dirty="0" err="1"/>
              <a:t>Blockchain</a:t>
            </a:r>
            <a:r>
              <a:rPr lang="en-US" dirty="0"/>
              <a:t>-Based Trust Management in Distributed Systems: A Survey,” </a:t>
            </a:r>
            <a:r>
              <a:rPr lang="en-US" i="1" dirty="0"/>
              <a:t>IEEE Access</a:t>
            </a:r>
            <a:r>
              <a:rPr lang="en-US" dirty="0"/>
              <a:t>, vol. 9, pp. 112345–112360, 2021.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[16] Y. Lu, “Digital Twin-Driven Smart Manufacturing: Connotation, Reference Model, Applications and Research Issues,” </a:t>
            </a:r>
            <a:r>
              <a:rPr lang="en-US" i="1" dirty="0"/>
              <a:t>IEEE Access</a:t>
            </a:r>
            <a:r>
              <a:rPr lang="en-US" dirty="0"/>
              <a:t>, vol. 8, pp. 187125–187140, 2020.</a:t>
            </a: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046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990600"/>
            <a:ext cx="7467600" cy="25908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THANK YOU</a:t>
            </a:r>
          </a:p>
        </p:txBody>
      </p:sp>
      <p:sp>
        <p:nvSpPr>
          <p:cNvPr id="23555" name="Slide Number Placeholder 2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63AA0C4-D338-4B8B-AF76-FA6D5AEDADCF}" type="slidenum">
              <a:rPr lang="en-US" altLang="en-US"/>
              <a:pPr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2399</TotalTime>
  <Words>1417</Words>
  <Application>Microsoft Office PowerPoint</Application>
  <PresentationFormat>Widescreen</PresentationFormat>
  <Paragraphs>188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Bookman Old Style</vt:lpstr>
      <vt:lpstr>Calibri</vt:lpstr>
      <vt:lpstr>Century Schoolbook</vt:lpstr>
      <vt:lpstr>Courier New</vt:lpstr>
      <vt:lpstr>Times New Roman</vt:lpstr>
      <vt:lpstr>Wingdings</vt:lpstr>
      <vt:lpstr>Wingdings 2</vt:lpstr>
      <vt:lpstr>Oriel</vt:lpstr>
      <vt:lpstr>AI Assisted Trust Evaluation In blockchain based digital twin system </vt:lpstr>
      <vt:lpstr>AGENDA</vt:lpstr>
      <vt:lpstr>Abstract </vt:lpstr>
      <vt:lpstr>                                   INTRODUCTION</vt:lpstr>
      <vt:lpstr>Literature Survey</vt:lpstr>
      <vt:lpstr>DESIGN AND WORKING </vt:lpstr>
      <vt:lpstr>PowerPoint Presentation</vt:lpstr>
      <vt:lpstr>PowerPoint Presentation</vt:lpstr>
      <vt:lpstr>PowerPoint Presentation</vt:lpstr>
      <vt:lpstr> Advantages and disadvantages</vt:lpstr>
      <vt:lpstr>APPLICATIONS</vt:lpstr>
      <vt:lpstr>CONCLUSION</vt:lpstr>
      <vt:lpstr>                                     FUTURE WORK</vt:lpstr>
      <vt:lpstr>References</vt:lpstr>
      <vt:lpstr>PowerPoint Presentation</vt:lpstr>
      <vt:lpstr>PowerPoint Presentation</vt:lpstr>
      <vt:lpstr>PowerPoint Presentation</vt:lpstr>
      <vt:lpstr> 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</dc:title>
  <dc:creator>Lenovo</dc:creator>
  <cp:lastModifiedBy>Sangu</cp:lastModifiedBy>
  <cp:revision>193</cp:revision>
  <dcterms:created xsi:type="dcterms:W3CDTF">2006-08-16T00:00:00Z</dcterms:created>
  <dcterms:modified xsi:type="dcterms:W3CDTF">2026-04-23T17:14:05Z</dcterms:modified>
</cp:coreProperties>
</file>