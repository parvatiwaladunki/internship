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8"/>
  </p:notesMasterIdLst>
  <p:sldIdLst>
    <p:sldId id="256" r:id="rId2"/>
    <p:sldId id="300" r:id="rId3"/>
    <p:sldId id="257" r:id="rId4"/>
    <p:sldId id="301" r:id="rId5"/>
    <p:sldId id="313" r:id="rId6"/>
    <p:sldId id="260" r:id="rId7"/>
    <p:sldId id="315" r:id="rId8"/>
    <p:sldId id="316" r:id="rId9"/>
    <p:sldId id="310" r:id="rId10"/>
    <p:sldId id="303" r:id="rId11"/>
    <p:sldId id="262" r:id="rId12"/>
    <p:sldId id="269" r:id="rId13"/>
    <p:sldId id="309" r:id="rId14"/>
    <p:sldId id="266" r:id="rId15"/>
    <p:sldId id="308" r:id="rId16"/>
    <p:sldId id="258" r:id="rId17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napVertSplitter="1" vertBarState="minimized" horzBarState="maximized">
    <p:restoredLeft sz="21324" autoAdjust="0"/>
    <p:restoredTop sz="94602" autoAdjust="0"/>
  </p:normalViewPr>
  <p:slideViewPr>
    <p:cSldViewPr>
      <p:cViewPr varScale="1">
        <p:scale>
          <a:sx n="74" d="100"/>
          <a:sy n="74" d="100"/>
        </p:scale>
        <p:origin x="996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56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E40F674E-241C-4444-B799-10F33F809B61}" type="datetimeFigureOut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fld id="{8AF35538-342E-4811-9A5B-62AE491482A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017507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508000" y="0"/>
            <a:ext cx="8128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4"/>
          <p:cNvSpPr/>
          <p:nvPr/>
        </p:nvSpPr>
        <p:spPr bwMode="auto">
          <a:xfrm>
            <a:off x="368300" y="0"/>
            <a:ext cx="139700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1320800" y="0"/>
            <a:ext cx="242888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6"/>
          <p:cNvSpPr/>
          <p:nvPr/>
        </p:nvSpPr>
        <p:spPr bwMode="auto">
          <a:xfrm>
            <a:off x="1522413" y="0"/>
            <a:ext cx="306387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141288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12192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2" name="Straight Connector 11"/>
          <p:cNvSpPr>
            <a:spLocks noChangeShapeType="1"/>
          </p:cNvSpPr>
          <p:nvPr/>
        </p:nvSpPr>
        <p:spPr bwMode="auto">
          <a:xfrm>
            <a:off x="1138238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2303463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4" name="Straight Connector 13"/>
          <p:cNvSpPr>
            <a:spLocks noChangeShapeType="1"/>
          </p:cNvSpPr>
          <p:nvPr/>
        </p:nvSpPr>
        <p:spPr bwMode="auto">
          <a:xfrm>
            <a:off x="1422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12152313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1625600" y="0"/>
            <a:ext cx="1016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Oval 16"/>
          <p:cNvSpPr/>
          <p:nvPr/>
        </p:nvSpPr>
        <p:spPr bwMode="auto">
          <a:xfrm>
            <a:off x="812800" y="3429000"/>
            <a:ext cx="1727200" cy="1295400"/>
          </a:xfrm>
          <a:prstGeom prst="ellipse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Oval 17"/>
          <p:cNvSpPr/>
          <p:nvPr/>
        </p:nvSpPr>
        <p:spPr bwMode="auto">
          <a:xfrm>
            <a:off x="1746250" y="4867275"/>
            <a:ext cx="855663" cy="64135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Oval 18"/>
          <p:cNvSpPr/>
          <p:nvPr/>
        </p:nvSpPr>
        <p:spPr bwMode="auto">
          <a:xfrm>
            <a:off x="1454150" y="5500688"/>
            <a:ext cx="184150" cy="136525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" name="Oval 19"/>
          <p:cNvSpPr/>
          <p:nvPr/>
        </p:nvSpPr>
        <p:spPr bwMode="auto">
          <a:xfrm>
            <a:off x="2217738" y="5788025"/>
            <a:ext cx="366712" cy="274638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1" name="Oval 20"/>
          <p:cNvSpPr/>
          <p:nvPr/>
        </p:nvSpPr>
        <p:spPr>
          <a:xfrm>
            <a:off x="2540000" y="4495800"/>
            <a:ext cx="487363" cy="365125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048000" y="3124200"/>
            <a:ext cx="82296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3048000" y="5003322"/>
            <a:ext cx="8229600" cy="1371600"/>
          </a:xfrm>
        </p:spPr>
        <p:txBody>
          <a:bodyPr/>
          <a:lstStyle>
            <a:lvl1pPr marL="0" indent="0" algn="l">
              <a:buNone/>
              <a:defRPr sz="1800" b="1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Date Placeholder 27"/>
          <p:cNvSpPr>
            <a:spLocks noGrp="1"/>
          </p:cNvSpPr>
          <p:nvPr>
            <p:ph type="dt" sz="half" idx="10"/>
          </p:nvPr>
        </p:nvSpPr>
        <p:spPr bwMode="auto">
          <a:xfrm rot="5400000">
            <a:off x="10733088" y="1111250"/>
            <a:ext cx="2286000" cy="5080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BF3EA7-9516-471B-BDBA-3C797781BEBE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23" name="Footer Placeholder 16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10045701" y="4117975"/>
            <a:ext cx="3657600" cy="51117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  <p:sp>
        <p:nvSpPr>
          <p:cNvPr id="24" name="Slide Number Placeholder 28"/>
          <p:cNvSpPr>
            <a:spLocks noGrp="1"/>
          </p:cNvSpPr>
          <p:nvPr>
            <p:ph type="sldNum" sz="quarter" idx="12"/>
          </p:nvPr>
        </p:nvSpPr>
        <p:spPr bwMode="auto">
          <a:xfrm>
            <a:off x="1766888" y="4929188"/>
            <a:ext cx="812800" cy="517525"/>
          </a:xfrm>
        </p:spPr>
        <p:txBody>
          <a:bodyPr/>
          <a:lstStyle>
            <a:lvl1pPr>
              <a:defRPr/>
            </a:lvl1pPr>
          </a:lstStyle>
          <a:p>
            <a:fld id="{3FD29B45-4318-4DF9-A799-6ED173DD8A94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9956800" cy="4873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pPr>
              <a:defRPr/>
            </a:pPr>
            <a:fld id="{79159640-D7AD-4552-8586-0B9694A7178E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5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D631849-9E7A-48DF-8D3C-4EBE4D8F2D9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auto">
          <a:xfrm>
            <a:off x="508000" y="0"/>
            <a:ext cx="8128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4"/>
          <p:cNvSpPr/>
          <p:nvPr/>
        </p:nvSpPr>
        <p:spPr bwMode="auto">
          <a:xfrm>
            <a:off x="368300" y="0"/>
            <a:ext cx="139700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5"/>
          <p:cNvSpPr/>
          <p:nvPr/>
        </p:nvSpPr>
        <p:spPr bwMode="auto">
          <a:xfrm>
            <a:off x="1320800" y="0"/>
            <a:ext cx="242888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6"/>
          <p:cNvSpPr/>
          <p:nvPr/>
        </p:nvSpPr>
        <p:spPr bwMode="auto">
          <a:xfrm>
            <a:off x="1522413" y="0"/>
            <a:ext cx="306387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141288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12192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1138238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2303463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2" name="Straight Connector 11"/>
          <p:cNvSpPr>
            <a:spLocks noChangeShapeType="1"/>
          </p:cNvSpPr>
          <p:nvPr/>
        </p:nvSpPr>
        <p:spPr bwMode="auto">
          <a:xfrm>
            <a:off x="1422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1625600" y="0"/>
            <a:ext cx="1016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Oval 13"/>
          <p:cNvSpPr/>
          <p:nvPr/>
        </p:nvSpPr>
        <p:spPr bwMode="auto">
          <a:xfrm>
            <a:off x="812800" y="3429000"/>
            <a:ext cx="1727200" cy="129540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Oval 14"/>
          <p:cNvSpPr/>
          <p:nvPr/>
        </p:nvSpPr>
        <p:spPr bwMode="auto">
          <a:xfrm>
            <a:off x="1765300" y="4867275"/>
            <a:ext cx="857250" cy="64135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Oval 15"/>
          <p:cNvSpPr/>
          <p:nvPr/>
        </p:nvSpPr>
        <p:spPr bwMode="auto">
          <a:xfrm>
            <a:off x="1454150" y="5500688"/>
            <a:ext cx="184150" cy="136525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Oval 16"/>
          <p:cNvSpPr/>
          <p:nvPr/>
        </p:nvSpPr>
        <p:spPr bwMode="auto">
          <a:xfrm>
            <a:off x="2217738" y="5791200"/>
            <a:ext cx="366712" cy="274638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Oval 17"/>
          <p:cNvSpPr/>
          <p:nvPr/>
        </p:nvSpPr>
        <p:spPr bwMode="auto">
          <a:xfrm>
            <a:off x="2506663" y="4479925"/>
            <a:ext cx="485775" cy="365125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Straight Connector 18"/>
          <p:cNvSpPr>
            <a:spLocks noChangeShapeType="1"/>
          </p:cNvSpPr>
          <p:nvPr/>
        </p:nvSpPr>
        <p:spPr bwMode="auto">
          <a:xfrm>
            <a:off x="12130088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0" y="2895600"/>
            <a:ext cx="8229600" cy="2053590"/>
          </a:xfrm>
        </p:spPr>
        <p:txBody>
          <a:bodyPr/>
          <a:lstStyle>
            <a:lvl1pPr algn="l">
              <a:buNone/>
              <a:defRPr sz="3000" b="1" cap="sm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0" y="5010150"/>
            <a:ext cx="8229600" cy="1371600"/>
          </a:xfrm>
        </p:spPr>
        <p:txBody>
          <a:bodyPr/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Date Placeholder 3"/>
          <p:cNvSpPr>
            <a:spLocks noGrp="1"/>
          </p:cNvSpPr>
          <p:nvPr>
            <p:ph type="dt" sz="half" idx="10"/>
          </p:nvPr>
        </p:nvSpPr>
        <p:spPr bwMode="auto">
          <a:xfrm rot="5400000">
            <a:off x="10731500" y="1106488"/>
            <a:ext cx="2286000" cy="5080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67E4755-5A16-4F01-8C18-A5FE48F7968F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21" name="Footer Placeholder 4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10045701" y="4114800"/>
            <a:ext cx="3657600" cy="51117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785938" y="4929188"/>
            <a:ext cx="812800" cy="517525"/>
          </a:xfrm>
        </p:spPr>
        <p:txBody>
          <a:bodyPr/>
          <a:lstStyle>
            <a:lvl1pPr>
              <a:defRPr/>
            </a:lvl1pPr>
          </a:lstStyle>
          <a:p>
            <a:fld id="{E28893CB-D880-4D90-92D6-85EBEE04B2EA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48768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5693664" y="1600200"/>
            <a:ext cx="48768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683F92-0458-4BBB-A5A9-6C044A7DB7A4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  <p:sp>
        <p:nvSpPr>
          <p:cNvPr id="7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1F95C97-B4A4-412D-9E09-3907E08CA64A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10058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362200"/>
            <a:ext cx="4876800" cy="3886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5829300" y="2362200"/>
            <a:ext cx="4876800" cy="3886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"/>
          </p:nvPr>
        </p:nvSpPr>
        <p:spPr>
          <a:xfrm>
            <a:off x="609600" y="1569720"/>
            <a:ext cx="48768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3"/>
          </p:nvPr>
        </p:nvSpPr>
        <p:spPr>
          <a:xfrm>
            <a:off x="5791200" y="1569720"/>
            <a:ext cx="48768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05E9F5-F981-473E-85C4-406D93F02914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  <p:sp>
        <p:nvSpPr>
          <p:cNvPr id="9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59059DD-5619-48DA-B81A-915F908E53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pPr>
              <a:defRPr/>
            </a:pPr>
            <a:fld id="{45B1AEE9-E5EC-428E-B0C6-A6ABB9DEE956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4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3DCF8CE-4EFD-4E74-A0C5-968D8954971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" name="Footer Placeholder 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2000DA1-4A2C-4715-8FDD-44DE5540D7C0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  <p:sp>
        <p:nvSpPr>
          <p:cNvPr id="4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8E37C0F-8922-43B7-AA1A-95554EB94B87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11684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  <a:cs typeface="+mn-cs"/>
            </a:endParaRPr>
          </a:p>
        </p:txBody>
      </p:sp>
      <p:sp>
        <p:nvSpPr>
          <p:cNvPr id="6" name="Straight Connector 5"/>
          <p:cNvSpPr>
            <a:spLocks noChangeShapeType="1"/>
          </p:cNvSpPr>
          <p:nvPr/>
        </p:nvSpPr>
        <p:spPr bwMode="auto">
          <a:xfrm>
            <a:off x="83312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  <a:cs typeface="+mn-cs"/>
            </a:endParaRPr>
          </a:p>
        </p:txBody>
      </p:sp>
      <p:sp>
        <p:nvSpPr>
          <p:cNvPr id="7" name="Straight Connector 4"/>
          <p:cNvSpPr>
            <a:spLocks noChangeShapeType="1"/>
          </p:cNvSpPr>
          <p:nvPr/>
        </p:nvSpPr>
        <p:spPr bwMode="auto">
          <a:xfrm>
            <a:off x="8256588" y="0"/>
            <a:ext cx="0" cy="6858000"/>
          </a:xfrm>
          <a:prstGeom prst="line">
            <a:avLst/>
          </a:prstGeom>
          <a:noFill/>
          <a:ln w="12700" algn="ctr">
            <a:solidFill>
              <a:schemeClr val="accent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Straight Connector 5"/>
          <p:cNvSpPr>
            <a:spLocks noChangeShapeType="1"/>
          </p:cNvSpPr>
          <p:nvPr/>
        </p:nvSpPr>
        <p:spPr bwMode="auto">
          <a:xfrm>
            <a:off x="11988800" y="0"/>
            <a:ext cx="0" cy="6858000"/>
          </a:xfrm>
          <a:prstGeom prst="line">
            <a:avLst/>
          </a:prstGeom>
          <a:noFill/>
          <a:ln w="19050" algn="ctr">
            <a:solidFill>
              <a:schemeClr val="accent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 bwMode="auto">
          <a:xfrm>
            <a:off x="11785600" y="0"/>
            <a:ext cx="4064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" name="Straight Connector 8"/>
          <p:cNvSpPr>
            <a:spLocks noChangeShapeType="1"/>
          </p:cNvSpPr>
          <p:nvPr/>
        </p:nvSpPr>
        <p:spPr bwMode="auto">
          <a:xfrm>
            <a:off x="11887200" y="0"/>
            <a:ext cx="0" cy="6858000"/>
          </a:xfrm>
          <a:prstGeom prst="line">
            <a:avLst/>
          </a:prstGeom>
          <a:noFill/>
          <a:ln w="9525" algn="ctr">
            <a:solidFill>
              <a:schemeClr val="accent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10875963" y="5715000"/>
            <a:ext cx="731837" cy="549275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5547360" y="3124200"/>
            <a:ext cx="6309360" cy="609600"/>
          </a:xfrm>
        </p:spPr>
        <p:txBody>
          <a:bodyPr/>
          <a:lstStyle>
            <a:lvl1pPr algn="l">
              <a:buNone/>
              <a:defRPr sz="2000" b="1" cap="sm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9083040" y="274320"/>
            <a:ext cx="2036064" cy="4983480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1000"/>
              </a:spcAft>
              <a:buNone/>
              <a:defRPr sz="12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17"/>
          <p:cNvSpPr>
            <a:spLocks noGrp="1"/>
          </p:cNvSpPr>
          <p:nvPr>
            <p:ph sz="quarter" idx="1"/>
          </p:nvPr>
        </p:nvSpPr>
        <p:spPr>
          <a:xfrm>
            <a:off x="406400" y="274320"/>
            <a:ext cx="7518400" cy="6327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e Placeholder 20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pPr>
              <a:defRPr/>
            </a:pPr>
            <a:fld id="{F049E209-DE90-479C-8620-83E2DB3A945A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13" name="Slide Number Placeholder 2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5DAE528B-D19C-4238-9FAA-6E2CB20B2F6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22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11684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6" name="Oval 5"/>
          <p:cNvSpPr/>
          <p:nvPr/>
        </p:nvSpPr>
        <p:spPr>
          <a:xfrm>
            <a:off x="10875963" y="5715000"/>
            <a:ext cx="731837" cy="549275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7" name="Straight Connector 4"/>
          <p:cNvSpPr>
            <a:spLocks noChangeShapeType="1"/>
          </p:cNvSpPr>
          <p:nvPr/>
        </p:nvSpPr>
        <p:spPr bwMode="auto">
          <a:xfrm>
            <a:off x="11988800" y="0"/>
            <a:ext cx="0" cy="685800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 bwMode="auto">
          <a:xfrm>
            <a:off x="11785600" y="0"/>
            <a:ext cx="406400" cy="6858000"/>
          </a:xfrm>
          <a:prstGeom prst="rect">
            <a:avLst/>
          </a:prstGeom>
          <a:solidFill>
            <a:schemeClr val="accent1">
              <a:tint val="6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" name="Straight Connector 7"/>
          <p:cNvSpPr>
            <a:spLocks noChangeShapeType="1"/>
          </p:cNvSpPr>
          <p:nvPr/>
        </p:nvSpPr>
        <p:spPr bwMode="auto">
          <a:xfrm>
            <a:off x="11887200" y="0"/>
            <a:ext cx="0" cy="6858000"/>
          </a:xfrm>
          <a:prstGeom prst="line">
            <a:avLst/>
          </a:prstGeom>
          <a:noFill/>
          <a:ln w="9525" algn="ctr">
            <a:solidFill>
              <a:schemeClr val="accent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3312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  <a:cs typeface="+mn-cs"/>
            </a:endParaRPr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256588" y="0"/>
            <a:ext cx="0" cy="6858000"/>
          </a:xfrm>
          <a:prstGeom prst="line">
            <a:avLst/>
          </a:prstGeom>
          <a:noFill/>
          <a:ln w="12700" algn="ctr">
            <a:solidFill>
              <a:schemeClr val="accent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5518404" y="3124200"/>
            <a:ext cx="6309360" cy="609600"/>
          </a:xfrm>
        </p:spPr>
        <p:txBody>
          <a:bodyPr/>
          <a:lstStyle>
            <a:lvl1pPr algn="l">
              <a:buNone/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229600" cy="6858000"/>
          </a:xfrm>
          <a:solidFill>
            <a:schemeClr val="bg2"/>
          </a:solidFill>
          <a:ln w="1270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21064" y="264795"/>
            <a:ext cx="2032000" cy="4956048"/>
          </a:xfrm>
        </p:spPr>
        <p:txBody>
          <a:bodyPr rot="0" spcFirstLastPara="0" vertOverflow="overflow" horzOverflow="overflow" spcCol="274320" rtlCol="0" fromWordArt="0" forceAA="0">
            <a:normAutofit/>
          </a:bodyPr>
          <a:lstStyle>
            <a:lvl1pPr marL="0" indent="0">
              <a:spcBef>
                <a:spcPts val="100"/>
              </a:spcBef>
              <a:spcAft>
                <a:spcPts val="400"/>
              </a:spcAft>
              <a:buFontTx/>
              <a:buNone/>
              <a:defRPr sz="12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1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pPr>
              <a:defRPr/>
            </a:pPr>
            <a:fld id="{8B8D7123-DA67-4ADE-BAF8-5C087A04A163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13" name="Slide Number Placeholder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577ABCD-A278-4C53-87BC-3FA1C5FDFE6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20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8C57C-C71B-45E5-A5BC-D75F10EF9FA5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5CE9EC7-BC17-4FFE-A6CD-A279678B8D78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235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5A5FFF-4E46-4C6F-A7B8-B6D2716798C3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8021288-A928-4049-967D-34F8CDAB6C1C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1684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  <a:cs typeface="+mn-cs"/>
            </a:endParaRPr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274638"/>
            <a:ext cx="9956800" cy="114300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28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9956800" cy="487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 rot="5400000">
            <a:off x="10453688" y="1017588"/>
            <a:ext cx="2011362" cy="512762"/>
          </a:xfrm>
          <a:prstGeom prst="rect">
            <a:avLst/>
          </a:prstGeom>
        </p:spPr>
        <p:txBody>
          <a:bodyPr vert="horz" anchor="ctr" anchorCtr="0"/>
          <a:lstStyle>
            <a:lvl1pPr algn="r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/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DAB40CAC-3920-4565-B2B8-02E9475D687C}" type="datetime1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 rot="5400000">
            <a:off x="9852819" y="3675857"/>
            <a:ext cx="3200400" cy="487362"/>
          </a:xfrm>
          <a:prstGeom prst="rect">
            <a:avLst/>
          </a:prstGeom>
        </p:spPr>
        <p:txBody>
          <a:bodyPr vert="horz" anchor="ctr" anchorCtr="0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/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r>
              <a:rPr lang="en-US"/>
              <a:t>17ISP85</a:t>
            </a:r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101600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032" name="Straight Connector 8"/>
          <p:cNvSpPr>
            <a:spLocks noChangeShapeType="1"/>
          </p:cNvSpPr>
          <p:nvPr/>
        </p:nvSpPr>
        <p:spPr bwMode="auto">
          <a:xfrm>
            <a:off x="11988800" y="0"/>
            <a:ext cx="0" cy="6858000"/>
          </a:xfrm>
          <a:prstGeom prst="line">
            <a:avLst/>
          </a:prstGeom>
          <a:noFill/>
          <a:ln w="19050" algn="ctr">
            <a:solidFill>
              <a:schemeClr val="accent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11785600" y="0"/>
            <a:ext cx="4064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4" name="Straight Connector 10"/>
          <p:cNvSpPr>
            <a:spLocks noChangeShapeType="1"/>
          </p:cNvSpPr>
          <p:nvPr/>
        </p:nvSpPr>
        <p:spPr bwMode="auto">
          <a:xfrm>
            <a:off x="11887200" y="0"/>
            <a:ext cx="0" cy="6858000"/>
          </a:xfrm>
          <a:prstGeom prst="line">
            <a:avLst/>
          </a:prstGeom>
          <a:noFill/>
          <a:ln w="9525" algn="ctr">
            <a:solidFill>
              <a:schemeClr val="accent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0875963" y="5715000"/>
            <a:ext cx="731837" cy="549275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10839450" y="5734050"/>
            <a:ext cx="812800" cy="5207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400" b="1">
                <a:solidFill>
                  <a:srgbClr val="FFFFFF"/>
                </a:solidFill>
                <a:latin typeface="Century Schoolbook" pitchFamily="18" charset="0"/>
              </a:defRPr>
            </a:lvl1pPr>
          </a:lstStyle>
          <a:p>
            <a:fld id="{D2B2B5EE-FBC5-499B-A684-EA3860056B08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25" r:id="rId1"/>
    <p:sldLayoutId id="2147484126" r:id="rId2"/>
    <p:sldLayoutId id="2147484127" r:id="rId3"/>
    <p:sldLayoutId id="2147484120" r:id="rId4"/>
    <p:sldLayoutId id="2147484121" r:id="rId5"/>
    <p:sldLayoutId id="2147484128" r:id="rId6"/>
    <p:sldLayoutId id="2147484122" r:id="rId7"/>
    <p:sldLayoutId id="2147484129" r:id="rId8"/>
    <p:sldLayoutId id="2147484130" r:id="rId9"/>
    <p:sldLayoutId id="2147484123" r:id="rId10"/>
    <p:sldLayoutId id="2147484124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 kern="1200" cap="small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Century Schoolbook" panose="02040604050505020304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Century Schoolbook" panose="02040604050505020304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Century Schoolbook" panose="02040604050505020304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Century Schoolbook" panose="02040604050505020304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Century Schoolbook" panose="02040604050505020304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Century Schoolbook" panose="02040604050505020304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Century Schoolbook" panose="02040604050505020304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Century Schoolbook" panose="02040604050505020304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563" algn="l" rtl="0" eaLnBrk="0" fontAlgn="base" hangingPunct="0">
        <a:spcBef>
          <a:spcPct val="20000"/>
        </a:spcBef>
        <a:spcAft>
          <a:spcPct val="0"/>
        </a:spcAft>
        <a:buClr>
          <a:srgbClr val="E0752F"/>
        </a:buClr>
        <a:buSzPct val="60000"/>
        <a:buFont typeface="Wingdings" pitchFamily="2" charset="2"/>
        <a:buChar char="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87450" indent="-182563" algn="l" rtl="0" eaLnBrk="0" fontAlgn="base" hangingPunct="0">
        <a:spcBef>
          <a:spcPct val="20000"/>
        </a:spcBef>
        <a:spcAft>
          <a:spcPct val="0"/>
        </a:spcAft>
        <a:buClr>
          <a:srgbClr val="FEC3AE"/>
        </a:buClr>
        <a:buSzPct val="60000"/>
        <a:buFont typeface="Wingdings" pitchFamily="2" charset="2"/>
        <a:buChar char="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2088" indent="-182563" algn="l" rtl="0" eaLnBrk="0" fontAlgn="base" hangingPunct="0">
        <a:spcBef>
          <a:spcPct val="20000"/>
        </a:spcBef>
        <a:spcAft>
          <a:spcPct val="0"/>
        </a:spcAft>
        <a:buClr>
          <a:srgbClr val="BDCAE9"/>
        </a:buClr>
        <a:buSzPct val="68000"/>
        <a:buFont typeface="Wingdings 2" pitchFamily="18" charset="2"/>
        <a:buChar char="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76600" y="3091656"/>
            <a:ext cx="7378460" cy="674688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dirty="0"/>
              <a:t>AI Assisted Trust Evaluation In blockchain based digital twin system 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9219" name="Subtitle 2"/>
          <p:cNvSpPr>
            <a:spLocks noGrp="1"/>
          </p:cNvSpPr>
          <p:nvPr>
            <p:ph type="subTitle" idx="1"/>
          </p:nvPr>
        </p:nvSpPr>
        <p:spPr>
          <a:xfrm>
            <a:off x="2552700" y="4795651"/>
            <a:ext cx="9296400" cy="1295400"/>
          </a:xfrm>
          <a:ln>
            <a:noFill/>
          </a:ln>
        </p:spPr>
        <p:txBody>
          <a:bodyPr/>
          <a:lstStyle/>
          <a:p>
            <a:pPr eaLnBrk="1" hangingPunct="1"/>
            <a:r>
              <a:rPr lang="en-US" altLang="en-US" dirty="0"/>
              <a:t>Presented By:					                  Guided By:                          </a:t>
            </a:r>
          </a:p>
          <a:p>
            <a:pPr eaLnBrk="1" hangingPunct="1"/>
            <a:r>
              <a:rPr lang="en-US" altLang="en-US" dirty="0"/>
              <a:t>Parvati Waladunki                                                                    Dr. Deepthi V S      </a:t>
            </a:r>
          </a:p>
          <a:p>
            <a:pPr eaLnBrk="1" hangingPunct="1"/>
            <a:r>
              <a:rPr lang="en-US" altLang="en-US" dirty="0"/>
              <a:t>1DS22CY032	                                                                          Assistant Professor</a:t>
            </a:r>
          </a:p>
          <a:p>
            <a:pPr eaLnBrk="1" hangingPunct="1"/>
            <a:r>
              <a:rPr lang="en-US" altLang="en-US" dirty="0"/>
              <a:t>                                                                                                      CSCY, DSCE</a:t>
            </a:r>
          </a:p>
          <a:p>
            <a:pPr eaLnBrk="1" hangingPunct="1"/>
            <a:r>
              <a:rPr lang="en-US" altLang="en-US" dirty="0"/>
              <a:t>                                                                                                      Date: 25-04-2026</a:t>
            </a:r>
          </a:p>
          <a:p>
            <a:pPr eaLnBrk="1" hangingPunct="1"/>
            <a:endParaRPr lang="en-US" altLang="en-US" dirty="0"/>
          </a:p>
          <a:p>
            <a:pPr eaLnBrk="1" hangingPunct="1"/>
            <a:endParaRPr lang="en-US" altLang="en-US" dirty="0"/>
          </a:p>
          <a:p>
            <a:pPr eaLnBrk="1" hangingPunct="1"/>
            <a:endParaRPr lang="en-US" altLang="en-US" dirty="0"/>
          </a:p>
          <a:p>
            <a:pPr eaLnBrk="1" hangingPunct="1"/>
            <a:endParaRPr lang="en-US" altLang="en-US" dirty="0"/>
          </a:p>
          <a:p>
            <a:pPr eaLnBrk="1" hangingPunct="1"/>
            <a:endParaRPr lang="en-US" altLang="en-US" dirty="0"/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2228850" y="4118185"/>
            <a:ext cx="9067800" cy="493504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 eaLnBrk="1" fontAlgn="auto" hangingPunct="1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0000"/>
              <a:defRPr/>
            </a:pPr>
            <a:r>
              <a:rPr lang="en-US" b="1" dirty="0">
                <a:solidFill>
                  <a:schemeClr val="tx2"/>
                </a:solidFill>
                <a:latin typeface="+mn-lt"/>
                <a:cs typeface="+mn-cs"/>
              </a:rPr>
              <a:t>Group Number: 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G-17</a:t>
            </a:r>
            <a:endParaRPr lang="en-US" b="1" dirty="0">
              <a:solidFill>
                <a:schemeClr val="tx2"/>
              </a:solidFill>
              <a:latin typeface="+mn-lt"/>
              <a:cs typeface="+mn-cs"/>
            </a:endParaRPr>
          </a:p>
          <a:p>
            <a:pPr eaLnBrk="1" fontAlgn="auto" hangingPunct="1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0000"/>
              <a:defRPr/>
            </a:pPr>
            <a:endParaRPr lang="en-US" b="1" dirty="0">
              <a:solidFill>
                <a:schemeClr val="tx2"/>
              </a:solidFill>
              <a:latin typeface="+mn-lt"/>
              <a:cs typeface="+mn-cs"/>
            </a:endParaRPr>
          </a:p>
        </p:txBody>
      </p:sp>
      <p:sp>
        <p:nvSpPr>
          <p:cNvPr id="9221" name="Title 1"/>
          <p:cNvSpPr txBox="1">
            <a:spLocks noChangeArrowheads="1"/>
          </p:cNvSpPr>
          <p:nvPr/>
        </p:nvSpPr>
        <p:spPr bwMode="auto">
          <a:xfrm>
            <a:off x="3276600" y="1358000"/>
            <a:ext cx="6972300" cy="1135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 algn="ctr" eaLnBrk="1" hangingPunct="1"/>
            <a:r>
              <a:rPr lang="en-US" sz="3200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Technical Seminar –I </a:t>
            </a:r>
          </a:p>
          <a:p>
            <a:pPr algn="ctr" eaLnBrk="1" hangingPunct="1"/>
            <a:r>
              <a:rPr lang="en-US" sz="3200" b="1" dirty="0">
                <a:solidFill>
                  <a:schemeClr val="accent1"/>
                </a:solidFill>
                <a:latin typeface="Times New Roman" pitchFamily="18" charset="0"/>
                <a:cs typeface="Times New Roman" pitchFamily="18" charset="0"/>
              </a:rPr>
              <a:t>2025-2026</a:t>
            </a:r>
            <a:endParaRPr lang="en-IN" sz="3200" b="1" dirty="0">
              <a:solidFill>
                <a:schemeClr val="accent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676400" y="320516"/>
            <a:ext cx="9448800" cy="738188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cap="all" dirty="0">
                <a:latin typeface="Bookman Old Style" panose="02050604050505020204" pitchFamily="18" charset="0"/>
                <a:ea typeface="Calibri" panose="020F0502020204030204" pitchFamily="34" charset="0"/>
                <a:cs typeface="Courier New" panose="02070309020205020404" pitchFamily="49" charset="0"/>
              </a:rPr>
              <a:t>Dayananda </a:t>
            </a:r>
            <a:r>
              <a:rPr lang="en-US" sz="2400" b="1" cap="all" dirty="0" err="1">
                <a:latin typeface="Bookman Old Style" panose="02050604050505020204" pitchFamily="18" charset="0"/>
                <a:ea typeface="Calibri" panose="020F0502020204030204" pitchFamily="34" charset="0"/>
                <a:cs typeface="Courier New" panose="02070309020205020404" pitchFamily="49" charset="0"/>
              </a:rPr>
              <a:t>sagar</a:t>
            </a:r>
            <a:r>
              <a:rPr lang="en-US" sz="2400" b="1" cap="all" dirty="0">
                <a:latin typeface="Bookman Old Style" panose="02050604050505020204" pitchFamily="18" charset="0"/>
                <a:ea typeface="Calibri" panose="020F0502020204030204" pitchFamily="34" charset="0"/>
                <a:cs typeface="Courier New" panose="02070309020205020404" pitchFamily="49" charset="0"/>
              </a:rPr>
              <a:t> college of engineering</a:t>
            </a: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b="1" cap="all" dirty="0">
                <a:solidFill>
                  <a:srgbClr val="0070C0"/>
                </a:solidFill>
                <a:latin typeface="Bookman Old Style" panose="02050604050505020204" pitchFamily="18" charset="0"/>
                <a:cs typeface="Courier New" panose="02070309020205020404" pitchFamily="49" charset="0"/>
              </a:rPr>
              <a:t>Department of computer science &amp; engineering (cyber security)</a:t>
            </a:r>
            <a:endParaRPr lang="en-IN" dirty="0">
              <a:solidFill>
                <a:srgbClr val="0070C0"/>
              </a:solidFill>
              <a:latin typeface="+mn-lt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AGENDA</a:t>
            </a:r>
            <a:endParaRPr lang="en-IN" dirty="0"/>
          </a:p>
        </p:txBody>
      </p:sp>
      <p:sp>
        <p:nvSpPr>
          <p:cNvPr id="10243" name="Content Placeholder 2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9956800" cy="4873625"/>
          </a:xfrm>
        </p:spPr>
        <p:txBody>
          <a:bodyPr/>
          <a:lstStyle/>
          <a:p>
            <a:r>
              <a:rPr lang="en-US" altLang="en-US" dirty="0"/>
              <a:t>Abstract</a:t>
            </a:r>
          </a:p>
          <a:p>
            <a:r>
              <a:rPr lang="en-US" altLang="en-US" dirty="0"/>
              <a:t>Introduction</a:t>
            </a:r>
          </a:p>
          <a:p>
            <a:r>
              <a:rPr lang="en-US" altLang="en-US" dirty="0"/>
              <a:t>Literature Survey</a:t>
            </a:r>
          </a:p>
          <a:p>
            <a:r>
              <a:rPr lang="en-US" altLang="en-US" dirty="0"/>
              <a:t>Design and Working</a:t>
            </a:r>
          </a:p>
          <a:p>
            <a:r>
              <a:rPr lang="en-IN" altLang="en-US" dirty="0"/>
              <a:t>Advantages and Disadvantages</a:t>
            </a:r>
          </a:p>
          <a:p>
            <a:r>
              <a:rPr lang="en-IN" altLang="en-US" dirty="0"/>
              <a:t>Applications</a:t>
            </a:r>
          </a:p>
          <a:p>
            <a:r>
              <a:rPr lang="en-IN" altLang="en-US" dirty="0"/>
              <a:t>Conclusion</a:t>
            </a:r>
          </a:p>
          <a:p>
            <a:r>
              <a:rPr lang="en-IN" altLang="en-US" dirty="0"/>
              <a:t>Future Work</a:t>
            </a:r>
          </a:p>
          <a:p>
            <a:r>
              <a:rPr lang="en-IN" altLang="en-US" dirty="0"/>
              <a:t>References</a:t>
            </a:r>
          </a:p>
          <a:p>
            <a:pPr>
              <a:buNone/>
            </a:pPr>
            <a:endParaRPr lang="en-US" altLang="en-US" dirty="0"/>
          </a:p>
          <a:p>
            <a:pPr>
              <a:buNone/>
            </a:pPr>
            <a:endParaRPr lang="en-IN" altLang="en-US" dirty="0"/>
          </a:p>
        </p:txBody>
      </p:sp>
      <p:sp>
        <p:nvSpPr>
          <p:cNvPr id="10244" name="Slide Number Placeholder 3"/>
          <p:cNvSpPr>
            <a:spLocks noGrp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F22FAEF5-DC6E-4283-B159-C0197C7A9233}" type="slidenum">
              <a:rPr lang="en-US" altLang="en-US"/>
              <a:pPr/>
              <a:t>2</a:t>
            </a:fld>
            <a:endParaRPr lang="en-US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5000" y="0"/>
            <a:ext cx="7467600" cy="1143000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dirty="0"/>
              <a:t>Abstract </a:t>
            </a:r>
          </a:p>
        </p:txBody>
      </p:sp>
      <p:sp>
        <p:nvSpPr>
          <p:cNvPr id="11267" name="Content Placeholder 2"/>
          <p:cNvSpPr>
            <a:spLocks noGrp="1"/>
          </p:cNvSpPr>
          <p:nvPr>
            <p:ph sz="quarter" idx="1"/>
          </p:nvPr>
        </p:nvSpPr>
        <p:spPr>
          <a:xfrm>
            <a:off x="539750" y="1158815"/>
            <a:ext cx="10523537" cy="5272087"/>
          </a:xfrm>
        </p:spPr>
        <p:txBody>
          <a:bodyPr/>
          <a:lstStyle/>
          <a:p>
            <a:pPr algn="just" eaLnBrk="1" hangingPunct="1">
              <a:lnSpc>
                <a:spcPct val="150000"/>
              </a:lnSpc>
            </a:pPr>
            <a:r>
              <a:rPr lang="en-US" dirty="0"/>
              <a:t>Digital Twin systems rely on real-time data for simulation and decision-making, ensuring data trust and security is a major challenge</a:t>
            </a:r>
          </a:p>
          <a:p>
            <a:pPr algn="just" eaLnBrk="1" hangingPunct="1">
              <a:lnSpc>
                <a:spcPct val="150000"/>
              </a:lnSpc>
            </a:pPr>
            <a:r>
              <a:rPr lang="en-US" dirty="0"/>
              <a:t>AI is used for anomaly detection and trust evaluation</a:t>
            </a:r>
          </a:p>
          <a:p>
            <a:pPr algn="just" eaLnBrk="1" hangingPunct="1">
              <a:lnSpc>
                <a:spcPct val="150000"/>
              </a:lnSpc>
            </a:pPr>
            <a:r>
              <a:rPr lang="en-US" dirty="0"/>
              <a:t>Blockchain provides secure and tamper-proof data storage</a:t>
            </a:r>
          </a:p>
          <a:p>
            <a:pPr algn="just" eaLnBrk="1" hangingPunct="1">
              <a:lnSpc>
                <a:spcPct val="150000"/>
              </a:lnSpc>
            </a:pPr>
            <a:r>
              <a:rPr lang="en-US" dirty="0"/>
              <a:t>Integration improves data reliability and system accuracy</a:t>
            </a:r>
          </a:p>
          <a:p>
            <a:pPr algn="just" eaLnBrk="1" hangingPunct="1">
              <a:lnSpc>
                <a:spcPct val="150000"/>
              </a:lnSpc>
            </a:pPr>
            <a:r>
              <a:rPr lang="en-US" dirty="0"/>
              <a:t>Applications include smart cities, healthcare, and industrial IoT</a:t>
            </a:r>
          </a:p>
          <a:p>
            <a:pPr eaLnBrk="1" hangingPunct="1">
              <a:buFont typeface="Wingdings" pitchFamily="2" charset="2"/>
              <a:buNone/>
            </a:pPr>
            <a:endParaRPr lang="en-US" altLang="en-US" dirty="0"/>
          </a:p>
        </p:txBody>
      </p:sp>
      <p:sp>
        <p:nvSpPr>
          <p:cNvPr id="11268" name="Slide Number Placeholder 3"/>
          <p:cNvSpPr>
            <a:spLocks noGrp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D8755944-68FB-4AE5-8A65-7DA06E7343DF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11269" name="Rectangle 5"/>
          <p:cNvSpPr>
            <a:spLocks noChangeArrowheads="1"/>
          </p:cNvSpPr>
          <p:nvPr/>
        </p:nvSpPr>
        <p:spPr bwMode="auto">
          <a:xfrm>
            <a:off x="0" y="-184150"/>
            <a:ext cx="249238" cy="36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r>
              <a:rPr lang="en-US" altLang="en-US"/>
              <a:t> </a:t>
            </a:r>
          </a:p>
        </p:txBody>
      </p:sp>
      <p:sp>
        <p:nvSpPr>
          <p:cNvPr id="11270" name="Rectangle 6"/>
          <p:cNvSpPr>
            <a:spLocks noChangeArrowheads="1"/>
          </p:cNvSpPr>
          <p:nvPr/>
        </p:nvSpPr>
        <p:spPr bwMode="auto">
          <a:xfrm>
            <a:off x="0" y="-461963"/>
            <a:ext cx="393700" cy="9239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altLang="en-US"/>
          </a:p>
          <a:p>
            <a:pPr>
              <a:buFontTx/>
              <a:buChar char="•"/>
            </a:pPr>
            <a:r>
              <a:rPr lang="en-US" altLang="en-US"/>
              <a:t>. </a:t>
            </a:r>
          </a:p>
          <a:p>
            <a:pPr>
              <a:buFontTx/>
              <a:buChar char="•"/>
            </a:pPr>
            <a:endParaRPr lang="en-US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44313"/>
            <a:ext cx="9956800" cy="762000"/>
          </a:xfrm>
        </p:spPr>
        <p:txBody>
          <a:bodyPr/>
          <a:lstStyle/>
          <a:p>
            <a:pPr>
              <a:defRPr/>
            </a:pPr>
            <a:r>
              <a:rPr lang="en-US" dirty="0"/>
              <a:t>                                   INTRODUCTION</a:t>
            </a:r>
            <a:endParaRPr lang="en-IN" dirty="0"/>
          </a:p>
        </p:txBody>
      </p:sp>
      <p:sp>
        <p:nvSpPr>
          <p:cNvPr id="12291" name="Content Placeholder 2"/>
          <p:cNvSpPr>
            <a:spLocks noGrp="1"/>
          </p:cNvSpPr>
          <p:nvPr>
            <p:ph sz="quarter" idx="1"/>
          </p:nvPr>
        </p:nvSpPr>
        <p:spPr>
          <a:xfrm>
            <a:off x="882650" y="992187"/>
            <a:ext cx="9956800" cy="4873625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en-US" dirty="0"/>
              <a:t>Digital Twin creates a virtual model of physical systems, it depends on continuous real-time data from IoT devices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Untrusted or manipulated data leads to incorrect decisions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Traditional systems lack security, transparency, and trust evaluation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Need for integration of AI for trust evaluation and Blockchain for secure data storage</a:t>
            </a:r>
            <a:endParaRPr lang="en-IN" altLang="en-US" dirty="0"/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B0456852-3A38-40C0-9D47-31212C6A53E6}" type="slidenum">
              <a:rPr lang="en-US" altLang="en-US"/>
              <a:pPr/>
              <a:t>4</a:t>
            </a:fld>
            <a:endParaRPr lang="en-US" alt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xmlns="" id="{E4719FAE-2B2A-2867-13AF-A7C95DD86BCB}"/>
              </a:ext>
            </a:extLst>
          </p:cNvPr>
          <p:cNvSpPr/>
          <p:nvPr/>
        </p:nvSpPr>
        <p:spPr>
          <a:xfrm>
            <a:off x="850569" y="5511739"/>
            <a:ext cx="2096339" cy="457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Physical Systems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xmlns="" id="{05AA0327-BE9F-FD78-9119-B88D77398C6D}"/>
              </a:ext>
            </a:extLst>
          </p:cNvPr>
          <p:cNvSpPr/>
          <p:nvPr/>
        </p:nvSpPr>
        <p:spPr>
          <a:xfrm>
            <a:off x="3632708" y="5511739"/>
            <a:ext cx="2036763" cy="457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AI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xmlns="" id="{7E1C6CAE-DAB8-93BE-A101-44369FE5EB4E}"/>
              </a:ext>
            </a:extLst>
          </p:cNvPr>
          <p:cNvSpPr/>
          <p:nvPr/>
        </p:nvSpPr>
        <p:spPr>
          <a:xfrm>
            <a:off x="6355271" y="5511739"/>
            <a:ext cx="1752600" cy="457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Blockchain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xmlns="" id="{B4FE8781-F374-3591-77DF-FD63FF00EBB6}"/>
              </a:ext>
            </a:extLst>
          </p:cNvPr>
          <p:cNvSpPr/>
          <p:nvPr/>
        </p:nvSpPr>
        <p:spPr>
          <a:xfrm>
            <a:off x="8822426" y="5511739"/>
            <a:ext cx="1752600" cy="457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Digital Twin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xmlns="" id="{A4DC359F-4B7B-A085-CB36-620DC6F625DC}"/>
              </a:ext>
            </a:extLst>
          </p:cNvPr>
          <p:cNvCxnSpPr>
            <a:stCxn id="3" idx="3"/>
            <a:endCxn id="10" idx="1"/>
          </p:cNvCxnSpPr>
          <p:nvPr/>
        </p:nvCxnSpPr>
        <p:spPr>
          <a:xfrm>
            <a:off x="2946908" y="5740339"/>
            <a:ext cx="685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xmlns="" id="{3711F014-7DAA-8B1A-B1C3-5D553D08A3A2}"/>
              </a:ext>
            </a:extLst>
          </p:cNvPr>
          <p:cNvCxnSpPr/>
          <p:nvPr/>
        </p:nvCxnSpPr>
        <p:spPr>
          <a:xfrm>
            <a:off x="5669471" y="5740339"/>
            <a:ext cx="685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xmlns="" id="{25E0DE3C-B700-E96A-D355-2DBFE0A51924}"/>
              </a:ext>
            </a:extLst>
          </p:cNvPr>
          <p:cNvCxnSpPr/>
          <p:nvPr/>
        </p:nvCxnSpPr>
        <p:spPr>
          <a:xfrm>
            <a:off x="8107871" y="5740339"/>
            <a:ext cx="685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7600" y="304800"/>
            <a:ext cx="9956800" cy="457200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Literature Survey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xmlns="" id="{BB494910-D9AC-A49B-3C7F-16EAF8A03F6A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56420475"/>
              </p:ext>
            </p:extLst>
          </p:nvPr>
        </p:nvGraphicFramePr>
        <p:xfrm>
          <a:off x="381000" y="799563"/>
          <a:ext cx="11049000" cy="53095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>
                  <a:extLst>
                    <a:ext uri="{9D8B030D-6E8A-4147-A177-3AD203B41FA5}">
                      <a16:colId xmlns:a16="http://schemas.microsoft.com/office/drawing/2014/main" xmlns="" val="390768183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xmlns="" val="397652441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xmlns="" val="3601312617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xmlns="" val="3931388399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xmlns="" val="248621489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xmlns="" val="1610093789"/>
                    </a:ext>
                  </a:extLst>
                </a:gridCol>
              </a:tblGrid>
              <a:tr h="707054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Problem Statement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Key Findings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/>
                        <a:t>Limitation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802335097"/>
                  </a:ext>
                </a:extLst>
              </a:tr>
              <a:tr h="409642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err="1" smtClean="0"/>
                        <a:t>Blockchain</a:t>
                      </a:r>
                      <a:r>
                        <a:rPr lang="en-IN" sz="1600" dirty="0" smtClean="0"/>
                        <a:t>-Based Trust Mechanism for DT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Zhang et al.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Lack of trust in </a:t>
                      </a:r>
                      <a:r>
                        <a:rPr lang="en-IN" sz="1600" dirty="0" err="1" smtClean="0"/>
                        <a:t>IIoT</a:t>
                      </a:r>
                      <a:r>
                        <a:rPr lang="en-IN" sz="1600" dirty="0" smtClean="0"/>
                        <a:t> data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err="1" smtClean="0"/>
                        <a:t>PoA</a:t>
                      </a:r>
                      <a:r>
                        <a:rPr lang="en-IN" sz="1600" dirty="0" smtClean="0"/>
                        <a:t>-based </a:t>
                      </a:r>
                      <a:r>
                        <a:rPr lang="en-IN" sz="1600" dirty="0" err="1" smtClean="0"/>
                        <a:t>blockchain</a:t>
                      </a:r>
                      <a:r>
                        <a:rPr lang="en-IN" sz="1600" dirty="0" smtClean="0"/>
                        <a:t> + trust model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Improved data integrity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Limited scalability</a:t>
                      </a:r>
                    </a:p>
                    <a:p>
                      <a:pPr algn="ctr"/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74852068"/>
                  </a:ext>
                </a:extLst>
              </a:tr>
              <a:tr h="409642">
                <a:tc>
                  <a:txBody>
                    <a:bodyPr/>
                    <a:lstStyle/>
                    <a:p>
                      <a:pPr algn="ctr"/>
                      <a:r>
                        <a:rPr lang="en-IN" sz="1600"/>
                        <a:t>TFL-DT Trust Evaluation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Chen et al.</a:t>
                      </a:r>
                      <a:endParaRPr lang="en-IN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Malicious participants in FL</a:t>
                      </a:r>
                      <a:endParaRPr lang="en-IN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AI-based trust scoring</a:t>
                      </a:r>
                      <a:endParaRPr lang="en-IN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Better accuracy, secure learning</a:t>
                      </a:r>
                      <a:endParaRPr lang="en-IN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High computation cost</a:t>
                      </a:r>
                      <a:endParaRPr lang="en-IN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54218183"/>
                  </a:ext>
                </a:extLst>
              </a:tr>
              <a:tr h="409642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err="1" smtClean="0"/>
                        <a:t>Blockchain</a:t>
                      </a:r>
                      <a:r>
                        <a:rPr lang="en-IN" sz="1600" dirty="0" smtClean="0"/>
                        <a:t>-enabled DT for Smart Cities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Kumar et al.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Data inconsistency &amp; attacks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LSTM + </a:t>
                      </a:r>
                      <a:r>
                        <a:rPr lang="en-IN" sz="1600" dirty="0" err="1" smtClean="0"/>
                        <a:t>blockchain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Improved prediction &amp; trust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Complex implementation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489034478"/>
                  </a:ext>
                </a:extLst>
              </a:tr>
              <a:tr h="409642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AI-based Trust Models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Kumar et al.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Static trust models ineffective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ML anomaly detection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Dynamic trust evaluation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Needs training data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786096180"/>
                  </a:ext>
                </a:extLst>
              </a:tr>
              <a:tr h="409642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Secure DT using AI &amp; </a:t>
                      </a:r>
                      <a:r>
                        <a:rPr lang="en-IN" sz="1600" dirty="0" err="1" smtClean="0"/>
                        <a:t>Blockchain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Patel et al.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No unified secure framework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AI + </a:t>
                      </a:r>
                      <a:r>
                        <a:rPr lang="en-IN" sz="1600" dirty="0" err="1" smtClean="0"/>
                        <a:t>blockchain</a:t>
                      </a:r>
                      <a:r>
                        <a:rPr lang="en-IN" sz="1600" dirty="0" smtClean="0"/>
                        <a:t> + smart contracts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Real-time trust evaluation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 smtClean="0"/>
                        <a:t>Latency issues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24089153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631849-9E7A-48DF-8D3C-4EBE4D8F2D94}" type="slidenum">
              <a:rPr lang="en-US" altLang="en-US" smtClean="0"/>
              <a:pPr/>
              <a:t>5</a:t>
            </a:fld>
            <a:endParaRPr lang="en-US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-457200"/>
            <a:ext cx="9956800" cy="1143000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dirty="0"/>
              <a:t>DESIGN </a:t>
            </a:r>
            <a:r>
              <a:rPr lang="en-US" dirty="0" smtClean="0"/>
              <a:t>AND WORKING </a:t>
            </a:r>
            <a:endParaRPr lang="en-US" dirty="0"/>
          </a:p>
        </p:txBody>
      </p:sp>
      <p:sp>
        <p:nvSpPr>
          <p:cNvPr id="13315" name="Slide Number Placeholder 3"/>
          <p:cNvSpPr>
            <a:spLocks noGrp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C5B4D5FC-01EF-424D-8B78-3C3A05A1C8E2}" type="slidenum">
              <a:rPr lang="en-US" altLang="en-US"/>
              <a:pPr/>
              <a:t>6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533400" y="685800"/>
            <a:ext cx="10337800" cy="6172200"/>
          </a:xfrm>
        </p:spPr>
        <p:txBody>
          <a:bodyPr/>
          <a:lstStyle/>
          <a:p>
            <a:r>
              <a:rPr lang="en-IN" sz="2000" b="1" dirty="0" smtClean="0"/>
              <a:t>Physical </a:t>
            </a:r>
            <a:r>
              <a:rPr lang="en-IN" sz="2000" b="1" dirty="0"/>
              <a:t>Twin </a:t>
            </a:r>
            <a:r>
              <a:rPr lang="en-IN" sz="2000" b="1" dirty="0" smtClean="0"/>
              <a:t>Layer: </a:t>
            </a:r>
          </a:p>
          <a:p>
            <a:pPr marL="0" indent="0">
              <a:buNone/>
            </a:pPr>
            <a:r>
              <a:rPr lang="en-IN" sz="2000" dirty="0" smtClean="0"/>
              <a:t>    </a:t>
            </a:r>
            <a:r>
              <a:rPr lang="en-IN" sz="1800" dirty="0" smtClean="0"/>
              <a:t>- Real-world </a:t>
            </a:r>
            <a:r>
              <a:rPr lang="en-IN" sz="1800" dirty="0"/>
              <a:t>devices (sensors, actuators) </a:t>
            </a:r>
          </a:p>
          <a:p>
            <a:pPr marL="0" indent="0">
              <a:buNone/>
            </a:pPr>
            <a:r>
              <a:rPr lang="en-IN" sz="1800" dirty="0" smtClean="0"/>
              <a:t>     - Performs </a:t>
            </a:r>
            <a:r>
              <a:rPr lang="en-IN" sz="1800" dirty="0"/>
              <a:t>data sensing and </a:t>
            </a:r>
            <a:r>
              <a:rPr lang="en-IN" sz="1800" dirty="0" smtClean="0"/>
              <a:t>control</a:t>
            </a:r>
          </a:p>
          <a:p>
            <a:pPr>
              <a:buFontTx/>
              <a:buChar char="-"/>
            </a:pPr>
            <a:endParaRPr lang="en-IN" sz="2000" b="1" dirty="0"/>
          </a:p>
          <a:p>
            <a:r>
              <a:rPr lang="en-IN" sz="2000" b="1" dirty="0"/>
              <a:t>Data </a:t>
            </a:r>
            <a:r>
              <a:rPr lang="en-IN" sz="2000" b="1" dirty="0" smtClean="0"/>
              <a:t>Layer:</a:t>
            </a:r>
          </a:p>
          <a:p>
            <a:pPr marL="0" indent="0">
              <a:buNone/>
            </a:pPr>
            <a:r>
              <a:rPr lang="en-IN" sz="2000" dirty="0" smtClean="0"/>
              <a:t>    </a:t>
            </a:r>
            <a:r>
              <a:rPr lang="en-IN" sz="1800" dirty="0" smtClean="0"/>
              <a:t>- Handles </a:t>
            </a:r>
            <a:r>
              <a:rPr lang="en-IN" sz="1800" dirty="0"/>
              <a:t>data storage and processing </a:t>
            </a:r>
            <a:endParaRPr lang="en-IN" sz="1800" dirty="0" smtClean="0"/>
          </a:p>
          <a:p>
            <a:pPr marL="0" indent="0">
              <a:buNone/>
            </a:pPr>
            <a:r>
              <a:rPr lang="en-IN" sz="1800" dirty="0" smtClean="0"/>
              <a:t>    - Includes</a:t>
            </a:r>
            <a:r>
              <a:rPr lang="en-IN" sz="1800" dirty="0"/>
              <a:t>: Presentation, Elaboration, </a:t>
            </a:r>
            <a:r>
              <a:rPr lang="en-IN" sz="1800" dirty="0" smtClean="0"/>
              <a:t>Persistence</a:t>
            </a:r>
          </a:p>
          <a:p>
            <a:pPr marL="0" indent="0">
              <a:buNone/>
            </a:pPr>
            <a:endParaRPr lang="en-IN" sz="2000" dirty="0"/>
          </a:p>
          <a:p>
            <a:r>
              <a:rPr lang="en-IN" sz="2000" b="1" dirty="0"/>
              <a:t>Digital Twin </a:t>
            </a:r>
            <a:r>
              <a:rPr lang="en-IN" sz="2000" b="1" dirty="0" smtClean="0"/>
              <a:t>Layer:</a:t>
            </a:r>
          </a:p>
          <a:p>
            <a:pPr marL="0" indent="0">
              <a:buNone/>
            </a:pPr>
            <a:r>
              <a:rPr lang="en-IN" sz="1800" b="1" dirty="0"/>
              <a:t> </a:t>
            </a:r>
            <a:r>
              <a:rPr lang="en-IN" sz="1800" b="1" dirty="0" smtClean="0"/>
              <a:t>   - </a:t>
            </a:r>
            <a:r>
              <a:rPr lang="en-IN" sz="1800" dirty="0" smtClean="0"/>
              <a:t>Creates </a:t>
            </a:r>
            <a:r>
              <a:rPr lang="en-IN" sz="1800" dirty="0"/>
              <a:t>virtual model of physical system </a:t>
            </a:r>
            <a:endParaRPr lang="en-IN" sz="1800" dirty="0" smtClean="0"/>
          </a:p>
          <a:p>
            <a:pPr marL="0" indent="0">
              <a:buNone/>
            </a:pPr>
            <a:r>
              <a:rPr lang="en-IN" sz="1800" dirty="0"/>
              <a:t> </a:t>
            </a:r>
            <a:r>
              <a:rPr lang="en-IN" sz="1800" dirty="0" smtClean="0"/>
              <a:t>   - Performs</a:t>
            </a:r>
            <a:r>
              <a:rPr lang="en-IN" sz="1800" dirty="0"/>
              <a:t>: </a:t>
            </a:r>
            <a:r>
              <a:rPr lang="en-IN" sz="1800" dirty="0" err="1"/>
              <a:t>Modeling</a:t>
            </a:r>
            <a:r>
              <a:rPr lang="en-IN" sz="1800" dirty="0"/>
              <a:t>, Reasoning, </a:t>
            </a:r>
            <a:r>
              <a:rPr lang="en-IN" sz="1800" dirty="0" smtClean="0"/>
              <a:t>Feedback</a:t>
            </a:r>
          </a:p>
          <a:p>
            <a:pPr marL="0" indent="0">
              <a:buNone/>
            </a:pPr>
            <a:endParaRPr lang="en-IN" sz="2000" dirty="0" smtClean="0"/>
          </a:p>
          <a:p>
            <a:r>
              <a:rPr lang="en-IN" b="1" dirty="0"/>
              <a:t>Service </a:t>
            </a:r>
            <a:r>
              <a:rPr lang="en-IN" b="1" dirty="0" smtClean="0"/>
              <a:t>Layer:</a:t>
            </a:r>
          </a:p>
          <a:p>
            <a:pPr marL="0" indent="0">
              <a:buNone/>
            </a:pPr>
            <a:r>
              <a:rPr lang="en-IN" b="1" dirty="0"/>
              <a:t> </a:t>
            </a:r>
            <a:r>
              <a:rPr lang="en-IN" b="1" dirty="0" smtClean="0"/>
              <a:t>  </a:t>
            </a:r>
            <a:r>
              <a:rPr lang="en-IN" sz="1800" b="1" dirty="0" smtClean="0"/>
              <a:t>- </a:t>
            </a:r>
            <a:r>
              <a:rPr lang="en-IN" sz="1800" dirty="0" smtClean="0"/>
              <a:t>Provides </a:t>
            </a:r>
            <a:r>
              <a:rPr lang="en-IN" sz="1800" dirty="0"/>
              <a:t>system functionalities: </a:t>
            </a:r>
            <a:r>
              <a:rPr lang="en-IN" sz="1800" dirty="0" smtClean="0"/>
              <a:t>Simulation, monitoring, prediction, optimization</a:t>
            </a:r>
            <a:endParaRPr lang="en-IN" sz="1800" dirty="0"/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endParaRPr lang="en-IN" sz="2000" dirty="0"/>
          </a:p>
          <a:p>
            <a:pPr>
              <a:buFontTx/>
              <a:buChar char="-"/>
            </a:pPr>
            <a:endParaRPr lang="en-IN" sz="2000" dirty="0"/>
          </a:p>
          <a:p>
            <a:pPr marL="0" indent="0">
              <a:buFont typeface="Wingdings" pitchFamily="2" charset="2"/>
              <a:buNone/>
              <a:defRPr/>
            </a:pP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838200"/>
            <a:ext cx="9956800" cy="5864352"/>
          </a:xfrm>
        </p:spPr>
        <p:txBody>
          <a:bodyPr/>
          <a:lstStyle/>
          <a:p>
            <a:r>
              <a:rPr lang="en-IN" sz="2000" b="1" dirty="0"/>
              <a:t>Security </a:t>
            </a:r>
            <a:r>
              <a:rPr lang="en-IN" sz="2000" b="1" dirty="0" smtClean="0"/>
              <a:t>Layer:</a:t>
            </a:r>
          </a:p>
          <a:p>
            <a:pPr marL="0" lvl="0" indent="0">
              <a:spcBef>
                <a:spcPct val="0"/>
              </a:spcBef>
              <a:buClrTx/>
              <a:buSzTx/>
              <a:buNone/>
            </a:pPr>
            <a:r>
              <a:rPr lang="en-IN" sz="1800" dirty="0">
                <a:latin typeface="+mj-lt"/>
              </a:rPr>
              <a:t> </a:t>
            </a:r>
            <a:r>
              <a:rPr lang="en-IN" sz="1800" dirty="0" smtClean="0">
                <a:latin typeface="+mj-lt"/>
              </a:rPr>
              <a:t>  - Ensures </a:t>
            </a:r>
            <a:r>
              <a:rPr lang="en-US" sz="1800" dirty="0" smtClean="0">
                <a:latin typeface="+mj-lt"/>
              </a:rPr>
              <a:t>i</a:t>
            </a:r>
            <a:r>
              <a:rPr lang="en-US" altLang="en-US" sz="1800" dirty="0" smtClean="0">
                <a:latin typeface="+mj-lt"/>
              </a:rPr>
              <a:t>dentity </a:t>
            </a:r>
            <a:r>
              <a:rPr lang="en-US" altLang="en-US" sz="1800" dirty="0">
                <a:latin typeface="+mj-lt"/>
              </a:rPr>
              <a:t>&amp; </a:t>
            </a:r>
            <a:r>
              <a:rPr lang="en-US" altLang="en-US" sz="1800" dirty="0" smtClean="0">
                <a:latin typeface="+mj-lt"/>
              </a:rPr>
              <a:t>access </a:t>
            </a:r>
            <a:r>
              <a:rPr lang="en-US" altLang="en-US" sz="1800" dirty="0">
                <a:latin typeface="+mj-lt"/>
              </a:rPr>
              <a:t>c</a:t>
            </a:r>
            <a:r>
              <a:rPr lang="en-US" altLang="en-US" sz="1800" dirty="0" smtClean="0">
                <a:latin typeface="+mj-lt"/>
              </a:rPr>
              <a:t>ontrol, encryption, privacy protection, </a:t>
            </a:r>
            <a:r>
              <a:rPr lang="en-US" sz="1800" dirty="0" smtClean="0">
                <a:latin typeface="+mj-lt"/>
              </a:rPr>
              <a:t>i</a:t>
            </a:r>
            <a:r>
              <a:rPr lang="en-US" altLang="en-US" sz="1800" dirty="0" smtClean="0">
                <a:latin typeface="+mj-lt"/>
              </a:rPr>
              <a:t>ntrusion detection</a:t>
            </a:r>
          </a:p>
          <a:p>
            <a:pPr marL="0" lvl="0" indent="0">
              <a:spcBef>
                <a:spcPct val="0"/>
              </a:spcBef>
              <a:buClrTx/>
              <a:buSzTx/>
              <a:buNone/>
            </a:pPr>
            <a:endParaRPr lang="en-US" altLang="en-US" sz="1800" dirty="0" smtClean="0">
              <a:latin typeface="+mj-lt"/>
            </a:endParaRPr>
          </a:p>
          <a:p>
            <a:r>
              <a:rPr lang="en-IN" sz="2000" b="1" dirty="0"/>
              <a:t>Connectivity Layer</a:t>
            </a:r>
          </a:p>
          <a:p>
            <a:pPr marL="0" indent="0">
              <a:buNone/>
            </a:pPr>
            <a:r>
              <a:rPr lang="en-IN" dirty="0"/>
              <a:t> </a:t>
            </a:r>
            <a:r>
              <a:rPr lang="en-IN" dirty="0" smtClean="0"/>
              <a:t>  </a:t>
            </a:r>
            <a:r>
              <a:rPr lang="en-IN" sz="1800" dirty="0" smtClean="0"/>
              <a:t>- Enables </a:t>
            </a:r>
            <a:r>
              <a:rPr lang="en-IN" sz="1800" dirty="0"/>
              <a:t>communication: </a:t>
            </a:r>
            <a:r>
              <a:rPr lang="en-IN" sz="1800" dirty="0" smtClean="0"/>
              <a:t>Inter-twin connectivity and intra-twin connectivity</a:t>
            </a:r>
            <a:endParaRPr lang="en-IN" sz="1800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631849-9E7A-48DF-8D3C-4EBE4D8F2D94}" type="slidenum">
              <a:rPr lang="en-US" altLang="en-US" smtClean="0"/>
              <a:pPr/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67011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/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646113"/>
            <a:ext cx="6547757" cy="5608637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D631849-9E7A-48DF-8D3C-4EBE4D8F2D94}" type="slidenum">
              <a:rPr lang="en-US" altLang="en-US" smtClean="0"/>
              <a:pPr/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5147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Content Placeholder 2"/>
          <p:cNvSpPr>
            <a:spLocks noGrp="1"/>
          </p:cNvSpPr>
          <p:nvPr>
            <p:ph sz="quarter" idx="1"/>
          </p:nvPr>
        </p:nvSpPr>
        <p:spPr>
          <a:xfrm>
            <a:off x="609600" y="838200"/>
            <a:ext cx="10820400" cy="6019800"/>
          </a:xfrm>
        </p:spPr>
        <p:txBody>
          <a:bodyPr/>
          <a:lstStyle/>
          <a:p>
            <a:pPr marL="0" indent="0" algn="just">
              <a:buNone/>
            </a:pPr>
            <a:r>
              <a:rPr lang="en-IN" sz="2000" b="1" dirty="0" smtClean="0"/>
              <a:t>Step </a:t>
            </a:r>
            <a:r>
              <a:rPr lang="en-IN" sz="2000" b="1" dirty="0"/>
              <a:t>1: Data </a:t>
            </a:r>
            <a:r>
              <a:rPr lang="en-IN" sz="2000" b="1" dirty="0" smtClean="0"/>
              <a:t>Generation</a:t>
            </a:r>
            <a:r>
              <a:rPr lang="en-IN" sz="2000" dirty="0" smtClean="0"/>
              <a:t> </a:t>
            </a:r>
            <a:r>
              <a:rPr lang="en-IN" sz="1800" dirty="0" smtClean="0"/>
              <a:t>- Sensors </a:t>
            </a:r>
            <a:r>
              <a:rPr lang="en-IN" sz="1800" dirty="0"/>
              <a:t>collect real-time data </a:t>
            </a:r>
          </a:p>
          <a:p>
            <a:pPr marL="0" indent="0" algn="just">
              <a:buNone/>
            </a:pPr>
            <a:endParaRPr lang="en-IN" sz="2000" dirty="0" smtClean="0"/>
          </a:p>
          <a:p>
            <a:pPr marL="0" indent="0" algn="just">
              <a:buNone/>
            </a:pPr>
            <a:r>
              <a:rPr lang="en-IN" sz="2000" b="1" dirty="0" smtClean="0"/>
              <a:t>Step </a:t>
            </a:r>
            <a:r>
              <a:rPr lang="en-IN" sz="2000" b="1" dirty="0"/>
              <a:t>2: Data </a:t>
            </a:r>
            <a:r>
              <a:rPr lang="en-IN" sz="2000" b="1" dirty="0" smtClean="0"/>
              <a:t>Processing</a:t>
            </a:r>
            <a:r>
              <a:rPr lang="en-IN" sz="2000" dirty="0" smtClean="0"/>
              <a:t> </a:t>
            </a:r>
            <a:r>
              <a:rPr lang="en-IN" sz="1800" dirty="0" smtClean="0"/>
              <a:t>- Data </a:t>
            </a:r>
            <a:r>
              <a:rPr lang="en-IN" sz="1800" dirty="0"/>
              <a:t>layer stores and processes information </a:t>
            </a:r>
          </a:p>
          <a:p>
            <a:pPr marL="0" indent="0" algn="just">
              <a:buNone/>
            </a:pPr>
            <a:endParaRPr lang="en-IN" sz="2000" dirty="0"/>
          </a:p>
          <a:p>
            <a:pPr marL="0" indent="0" algn="just">
              <a:buNone/>
            </a:pPr>
            <a:r>
              <a:rPr lang="en-IN" sz="2000" b="1" dirty="0" smtClean="0"/>
              <a:t>Step </a:t>
            </a:r>
            <a:r>
              <a:rPr lang="en-IN" sz="2000" b="1" dirty="0"/>
              <a:t>3: Digital Twin </a:t>
            </a:r>
            <a:r>
              <a:rPr lang="en-IN" sz="2000" b="1" dirty="0" smtClean="0"/>
              <a:t>Creation</a:t>
            </a:r>
            <a:r>
              <a:rPr lang="en-IN" sz="2000" dirty="0" smtClean="0"/>
              <a:t> </a:t>
            </a:r>
            <a:r>
              <a:rPr lang="en-IN" sz="1800" dirty="0" smtClean="0"/>
              <a:t>- Virtual </a:t>
            </a:r>
            <a:r>
              <a:rPr lang="en-IN" sz="1800" dirty="0"/>
              <a:t>model replicates physical system </a:t>
            </a:r>
          </a:p>
          <a:p>
            <a:pPr marL="0" indent="0" algn="just">
              <a:buNone/>
            </a:pPr>
            <a:endParaRPr lang="en-IN" sz="2000" b="1" dirty="0" smtClean="0"/>
          </a:p>
          <a:p>
            <a:pPr marL="0" indent="0" algn="just">
              <a:buNone/>
            </a:pPr>
            <a:r>
              <a:rPr lang="en-IN" sz="2000" b="1" dirty="0" smtClean="0"/>
              <a:t>Step </a:t>
            </a:r>
            <a:r>
              <a:rPr lang="en-IN" sz="2000" b="1" dirty="0"/>
              <a:t>4: Analysis &amp; </a:t>
            </a:r>
            <a:r>
              <a:rPr lang="en-IN" sz="2000" b="1" dirty="0" smtClean="0"/>
              <a:t>Services</a:t>
            </a:r>
            <a:r>
              <a:rPr lang="en-IN" sz="2000" dirty="0" smtClean="0"/>
              <a:t> - </a:t>
            </a:r>
            <a:r>
              <a:rPr lang="en-IN" sz="1800" dirty="0" smtClean="0"/>
              <a:t>Simulation</a:t>
            </a:r>
            <a:r>
              <a:rPr lang="en-IN" sz="1800" dirty="0"/>
              <a:t>, prediction, monitoring performed </a:t>
            </a:r>
          </a:p>
          <a:p>
            <a:pPr marL="0" indent="0" algn="just">
              <a:buNone/>
            </a:pPr>
            <a:endParaRPr lang="en-IN" sz="2000" b="1" dirty="0" smtClean="0"/>
          </a:p>
          <a:p>
            <a:pPr marL="0" indent="0" algn="just">
              <a:buNone/>
            </a:pPr>
            <a:r>
              <a:rPr lang="en-IN" sz="2000" b="1" dirty="0" smtClean="0"/>
              <a:t>Step </a:t>
            </a:r>
            <a:r>
              <a:rPr lang="en-IN" sz="2000" b="1" dirty="0"/>
              <a:t>5: Secure </a:t>
            </a:r>
            <a:r>
              <a:rPr lang="en-IN" sz="2000" b="1" dirty="0" smtClean="0"/>
              <a:t>Communication</a:t>
            </a:r>
            <a:r>
              <a:rPr lang="en-IN" sz="2000" dirty="0" smtClean="0"/>
              <a:t> </a:t>
            </a:r>
            <a:r>
              <a:rPr lang="en-IN" dirty="0" smtClean="0"/>
              <a:t>- </a:t>
            </a:r>
            <a:r>
              <a:rPr lang="en-IN" sz="1800" dirty="0" smtClean="0"/>
              <a:t>Security </a:t>
            </a:r>
            <a:r>
              <a:rPr lang="en-IN" sz="1800" dirty="0"/>
              <a:t>layer ensures safe data </a:t>
            </a:r>
            <a:r>
              <a:rPr lang="en-IN" sz="1800" dirty="0" smtClean="0"/>
              <a:t>handling, connectivity </a:t>
            </a:r>
            <a:r>
              <a:rPr lang="en-IN" sz="1800" dirty="0"/>
              <a:t>layer enables system interaction </a:t>
            </a:r>
          </a:p>
          <a:p>
            <a:pPr marL="0" indent="0" algn="just">
              <a:buNone/>
            </a:pPr>
            <a:endParaRPr lang="en-IN" sz="2000" b="1" dirty="0" smtClean="0"/>
          </a:p>
          <a:p>
            <a:pPr marL="0" indent="0" algn="just">
              <a:buNone/>
            </a:pPr>
            <a:r>
              <a:rPr lang="en-IN" sz="2000" b="1" dirty="0" smtClean="0"/>
              <a:t>Step </a:t>
            </a:r>
            <a:r>
              <a:rPr lang="en-IN" sz="2000" b="1" dirty="0"/>
              <a:t>6: Feedback &amp; </a:t>
            </a:r>
            <a:r>
              <a:rPr lang="en-IN" sz="2000" b="1" dirty="0" smtClean="0"/>
              <a:t>Control</a:t>
            </a:r>
            <a:r>
              <a:rPr lang="en-IN" sz="2000" dirty="0" smtClean="0"/>
              <a:t> - </a:t>
            </a:r>
            <a:r>
              <a:rPr lang="en-IN" sz="1800" dirty="0" smtClean="0"/>
              <a:t>Insights </a:t>
            </a:r>
            <a:r>
              <a:rPr lang="en-IN" sz="1800" dirty="0"/>
              <a:t>sent back to physical system</a:t>
            </a:r>
          </a:p>
        </p:txBody>
      </p:sp>
      <p:sp>
        <p:nvSpPr>
          <p:cNvPr id="14340" name="Slide Number Placeholder 3"/>
          <p:cNvSpPr>
            <a:spLocks noGrp="1" noChangeArrowheads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6C7FCF3-9B07-47C1-B124-5E0BCBAA2F73}" type="slidenum">
              <a:rPr lang="en-US" altLang="en-US"/>
              <a:pPr/>
              <a:t>9</a:t>
            </a:fld>
            <a:endParaRPr lang="en-US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591800" cy="563562"/>
          </a:xfrm>
        </p:spPr>
        <p:txBody>
          <a:bodyPr/>
          <a:lstStyle/>
          <a:p>
            <a:pPr algn="ctr">
              <a:defRPr/>
            </a:pPr>
            <a:r>
              <a:rPr lang="en-US" dirty="0"/>
              <a:t> </a:t>
            </a:r>
            <a:r>
              <a:rPr lang="en-US" dirty="0" smtClean="0"/>
              <a:t>Advantages and disadvantages</a:t>
            </a:r>
            <a:endParaRPr lang="en-IN" dirty="0"/>
          </a:p>
        </p:txBody>
      </p:sp>
      <p:sp>
        <p:nvSpPr>
          <p:cNvPr id="15364" name="Slide Number Placeholder 3"/>
          <p:cNvSpPr>
            <a:spLocks noGrp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476BEFAB-5A6D-44E3-B375-AE040F99C82D}" type="slidenum">
              <a:rPr lang="en-US" altLang="en-US"/>
              <a:pPr/>
              <a:t>10</a:t>
            </a:fld>
            <a:endParaRPr lang="en-US" alt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1546988"/>
              </p:ext>
            </p:extLst>
          </p:nvPr>
        </p:nvGraphicFramePr>
        <p:xfrm>
          <a:off x="823175" y="1143003"/>
          <a:ext cx="10001250" cy="51117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25"/>
                <a:gridCol w="5000625"/>
              </a:tblGrid>
              <a:tr h="547687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 smtClean="0"/>
                        <a:t>Advantages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 smtClean="0"/>
                        <a:t>Disadvantages</a:t>
                      </a:r>
                      <a:endParaRPr lang="en-IN" sz="2400" dirty="0"/>
                    </a:p>
                  </a:txBody>
                  <a:tcPr/>
                </a:tc>
              </a:tr>
              <a:tr h="912812">
                <a:tc>
                  <a:txBody>
                    <a:bodyPr/>
                    <a:lstStyle/>
                    <a:p>
                      <a:pPr algn="ctr"/>
                      <a:r>
                        <a:rPr lang="en-IN" sz="2200" b="0" dirty="0" smtClean="0"/>
                        <a:t>Ensures data trust and reliability using AI</a:t>
                      </a:r>
                      <a:endParaRPr lang="en-IN" sz="2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b="0" dirty="0" smtClean="0"/>
                        <a:t>High computational complexity</a:t>
                      </a:r>
                      <a:endParaRPr lang="en-IN" sz="2200" b="0" dirty="0"/>
                    </a:p>
                  </a:txBody>
                  <a:tcPr/>
                </a:tc>
              </a:tr>
              <a:tr h="912812">
                <a:tc>
                  <a:txBody>
                    <a:bodyPr/>
                    <a:lstStyle/>
                    <a:p>
                      <a:pPr algn="ctr"/>
                      <a:r>
                        <a:rPr lang="en-IN" sz="2200" b="0" dirty="0" smtClean="0"/>
                        <a:t>Provides secure and tamper-proof storage with </a:t>
                      </a:r>
                      <a:r>
                        <a:rPr lang="en-IN" sz="2200" b="0" dirty="0" err="1" smtClean="0"/>
                        <a:t>blockchain</a:t>
                      </a:r>
                      <a:endParaRPr lang="en-IN" sz="2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b="0" dirty="0" smtClean="0"/>
                        <a:t>Latency issues in real-time applications</a:t>
                      </a:r>
                      <a:endParaRPr lang="en-IN" sz="2200" b="0" dirty="0"/>
                    </a:p>
                  </a:txBody>
                  <a:tcPr/>
                </a:tc>
              </a:tr>
              <a:tr h="912812">
                <a:tc>
                  <a:txBody>
                    <a:bodyPr/>
                    <a:lstStyle/>
                    <a:p>
                      <a:pPr algn="ctr"/>
                      <a:r>
                        <a:rPr lang="en-IN" sz="2200" b="0" dirty="0" smtClean="0"/>
                        <a:t>Enables real-time monitoring and decision-making</a:t>
                      </a:r>
                      <a:endParaRPr lang="en-IN" sz="2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b="0" dirty="0" smtClean="0"/>
                        <a:t>Requires high infrastructure and cost</a:t>
                      </a:r>
                      <a:endParaRPr lang="en-IN" sz="2200" b="0" dirty="0"/>
                    </a:p>
                  </a:txBody>
                  <a:tcPr/>
                </a:tc>
              </a:tr>
              <a:tr h="912812">
                <a:tc>
                  <a:txBody>
                    <a:bodyPr/>
                    <a:lstStyle/>
                    <a:p>
                      <a:pPr algn="ctr"/>
                      <a:r>
                        <a:rPr lang="en-IN" sz="2200" b="0" dirty="0" smtClean="0"/>
                        <a:t>Improves system accuracy and efficiency</a:t>
                      </a:r>
                      <a:endParaRPr lang="en-IN" sz="2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b="0" dirty="0" smtClean="0"/>
                        <a:t>Integration of multiple technologies is complex</a:t>
                      </a:r>
                      <a:endParaRPr lang="en-IN" sz="2200" b="0" dirty="0"/>
                    </a:p>
                  </a:txBody>
                  <a:tcPr/>
                </a:tc>
              </a:tr>
              <a:tr h="912812">
                <a:tc>
                  <a:txBody>
                    <a:bodyPr/>
                    <a:lstStyle/>
                    <a:p>
                      <a:pPr algn="ctr"/>
                      <a:r>
                        <a:rPr lang="en-IN" sz="2200" b="0" dirty="0" smtClean="0"/>
                        <a:t>Reduces risk of malicious or false data</a:t>
                      </a:r>
                      <a:endParaRPr lang="en-IN" sz="2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200" b="0" dirty="0" smtClean="0"/>
                        <a:t>Privacy concerns due to data transparency</a:t>
                      </a:r>
                      <a:endParaRPr lang="en-IN" sz="2200" b="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9956800" cy="685800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dirty="0"/>
              <a:t>APPLICATIONS</a:t>
            </a:r>
          </a:p>
        </p:txBody>
      </p:sp>
      <p:sp>
        <p:nvSpPr>
          <p:cNvPr id="17411" name="Slide Number Placeholder 3"/>
          <p:cNvSpPr>
            <a:spLocks noGrp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8C9C7A4F-D22A-4129-93F6-93E5D5E589C0}" type="slidenum">
              <a:rPr lang="en-US" altLang="en-US"/>
              <a:pPr/>
              <a:t>11</a:t>
            </a:fld>
            <a:endParaRPr lang="en-US" altLang="en-US"/>
          </a:p>
        </p:txBody>
      </p:sp>
      <p:sp>
        <p:nvSpPr>
          <p:cNvPr id="17412" name="Content Placeholder 2"/>
          <p:cNvSpPr>
            <a:spLocks noGrp="1"/>
          </p:cNvSpPr>
          <p:nvPr>
            <p:ph sz="quarter" idx="1"/>
          </p:nvPr>
        </p:nvSpPr>
        <p:spPr>
          <a:xfrm>
            <a:off x="609600" y="1120775"/>
            <a:ext cx="10363200" cy="4873625"/>
          </a:xfrm>
        </p:spPr>
        <p:txBody>
          <a:bodyPr/>
          <a:lstStyle/>
          <a:p>
            <a:r>
              <a:rPr lang="en-US" altLang="en-US" dirty="0" smtClean="0"/>
              <a:t>Smart Cities: </a:t>
            </a:r>
            <a:r>
              <a:rPr lang="en-IN" dirty="0"/>
              <a:t>Traffic management, infrastructure </a:t>
            </a:r>
            <a:r>
              <a:rPr lang="en-IN" dirty="0" smtClean="0"/>
              <a:t>monitoring</a:t>
            </a:r>
          </a:p>
          <a:p>
            <a:pPr marL="0" indent="0">
              <a:buNone/>
            </a:pPr>
            <a:endParaRPr lang="en-IN" dirty="0" smtClean="0"/>
          </a:p>
          <a:p>
            <a:r>
              <a:rPr lang="en-IN" altLang="en-US" dirty="0" smtClean="0"/>
              <a:t>Healthcare: </a:t>
            </a:r>
            <a:r>
              <a:rPr lang="en-IN" dirty="0"/>
              <a:t>Patient monitoring, predictive </a:t>
            </a:r>
            <a:r>
              <a:rPr lang="en-IN" dirty="0" smtClean="0"/>
              <a:t>diagnosis</a:t>
            </a:r>
          </a:p>
          <a:p>
            <a:pPr marL="0" indent="0">
              <a:buNone/>
            </a:pPr>
            <a:endParaRPr lang="en-IN" dirty="0" smtClean="0"/>
          </a:p>
          <a:p>
            <a:r>
              <a:rPr lang="en-IN" altLang="en-US" dirty="0" smtClean="0"/>
              <a:t>Industrial </a:t>
            </a:r>
            <a:r>
              <a:rPr lang="en-IN" altLang="en-US" dirty="0" err="1" smtClean="0"/>
              <a:t>IoT</a:t>
            </a:r>
            <a:r>
              <a:rPr lang="en-IN" altLang="en-US" dirty="0" smtClean="0"/>
              <a:t>: </a:t>
            </a:r>
            <a:r>
              <a:rPr lang="en-IN" dirty="0"/>
              <a:t>Predictive maintenance, fault </a:t>
            </a:r>
            <a:r>
              <a:rPr lang="en-IN" dirty="0" smtClean="0"/>
              <a:t>detection</a:t>
            </a:r>
          </a:p>
          <a:p>
            <a:pPr marL="0" indent="0">
              <a:buNone/>
            </a:pPr>
            <a:endParaRPr lang="en-IN" dirty="0" smtClean="0"/>
          </a:p>
          <a:p>
            <a:r>
              <a:rPr lang="en-IN" altLang="en-US" dirty="0" smtClean="0"/>
              <a:t>Supply </a:t>
            </a:r>
            <a:r>
              <a:rPr lang="en-IN" altLang="en-US" dirty="0"/>
              <a:t>C</a:t>
            </a:r>
            <a:r>
              <a:rPr lang="en-IN" altLang="en-US" dirty="0" smtClean="0"/>
              <a:t>hain Management: </a:t>
            </a:r>
            <a:r>
              <a:rPr lang="en-IN" dirty="0" smtClean="0"/>
              <a:t>Transparency</a:t>
            </a:r>
            <a:r>
              <a:rPr lang="en-IN" dirty="0"/>
              <a:t>, tracking, fraud </a:t>
            </a:r>
            <a:r>
              <a:rPr lang="en-IN" dirty="0" smtClean="0"/>
              <a:t>prevention</a:t>
            </a:r>
          </a:p>
          <a:p>
            <a:pPr marL="0" indent="0">
              <a:buNone/>
            </a:pPr>
            <a:endParaRPr lang="en-IN" dirty="0" smtClean="0"/>
          </a:p>
          <a:p>
            <a:r>
              <a:rPr lang="en-IN" altLang="en-US" dirty="0" smtClean="0"/>
              <a:t>Energy Systems: </a:t>
            </a:r>
            <a:r>
              <a:rPr lang="en-IN" dirty="0"/>
              <a:t>Smart grids, energy </a:t>
            </a:r>
            <a:r>
              <a:rPr lang="en-IN" dirty="0" smtClean="0"/>
              <a:t>optimization</a:t>
            </a:r>
          </a:p>
          <a:p>
            <a:pPr marL="0" indent="0">
              <a:buNone/>
            </a:pPr>
            <a:endParaRPr lang="en-IN" dirty="0" smtClean="0"/>
          </a:p>
          <a:p>
            <a:r>
              <a:rPr lang="en-IN" altLang="en-US" dirty="0" smtClean="0"/>
              <a:t>Transportation: </a:t>
            </a:r>
            <a:r>
              <a:rPr lang="en-IN" dirty="0"/>
              <a:t>Autonomous vehicles, fleet monitoring</a:t>
            </a:r>
            <a:endParaRPr lang="en-US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-152400"/>
            <a:ext cx="9956800" cy="1143000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dirty="0"/>
              <a:t>C</a:t>
            </a:r>
            <a:r>
              <a:rPr lang="en-IN" dirty="0"/>
              <a:t>ONCLUSION</a:t>
            </a:r>
            <a:endParaRPr lang="en-US" dirty="0"/>
          </a:p>
        </p:txBody>
      </p:sp>
      <p:sp>
        <p:nvSpPr>
          <p:cNvPr id="18435" name="Content Placeholder 2"/>
          <p:cNvSpPr>
            <a:spLocks noGrp="1"/>
          </p:cNvSpPr>
          <p:nvPr>
            <p:ph sz="quarter" idx="1"/>
          </p:nvPr>
        </p:nvSpPr>
        <p:spPr>
          <a:xfrm>
            <a:off x="724884" y="1447800"/>
            <a:ext cx="10515600" cy="4953000"/>
          </a:xfrm>
        </p:spPr>
        <p:txBody>
          <a:bodyPr/>
          <a:lstStyle/>
          <a:p>
            <a:pPr algn="just"/>
            <a:r>
              <a:rPr lang="en-IN" dirty="0"/>
              <a:t>Digital Twin systems depend on accurate and trustworthy data </a:t>
            </a:r>
            <a:endParaRPr lang="en-IN" dirty="0" smtClean="0"/>
          </a:p>
          <a:p>
            <a:pPr marL="0" indent="0" algn="just">
              <a:buNone/>
            </a:pPr>
            <a:endParaRPr lang="en-IN" dirty="0"/>
          </a:p>
          <a:p>
            <a:pPr algn="just"/>
            <a:r>
              <a:rPr lang="en-IN" dirty="0"/>
              <a:t>AI enables intelligent trust evaluation and anomaly detection </a:t>
            </a:r>
            <a:endParaRPr lang="en-IN" dirty="0" smtClean="0"/>
          </a:p>
          <a:p>
            <a:pPr marL="0" indent="0" algn="just">
              <a:buNone/>
            </a:pPr>
            <a:endParaRPr lang="en-IN" dirty="0"/>
          </a:p>
          <a:p>
            <a:pPr algn="just"/>
            <a:r>
              <a:rPr lang="en-IN" dirty="0" err="1"/>
              <a:t>Blockchain</a:t>
            </a:r>
            <a:r>
              <a:rPr lang="en-IN" dirty="0"/>
              <a:t> ensures secure, transparent, and tamper-proof data </a:t>
            </a:r>
            <a:r>
              <a:rPr lang="en-IN" dirty="0" smtClean="0"/>
              <a:t>storage</a:t>
            </a:r>
          </a:p>
          <a:p>
            <a:pPr marL="0" indent="0" algn="just">
              <a:buNone/>
            </a:pPr>
            <a:r>
              <a:rPr lang="en-IN" dirty="0" smtClean="0"/>
              <a:t> </a:t>
            </a:r>
            <a:endParaRPr lang="en-IN" dirty="0"/>
          </a:p>
          <a:p>
            <a:pPr algn="just"/>
            <a:r>
              <a:rPr lang="en-IN" dirty="0"/>
              <a:t>Integration improves system reliability, security, and </a:t>
            </a:r>
            <a:r>
              <a:rPr lang="en-IN" dirty="0" smtClean="0"/>
              <a:t>decision-making</a:t>
            </a:r>
          </a:p>
          <a:p>
            <a:pPr marL="0" indent="0" algn="just">
              <a:buNone/>
            </a:pPr>
            <a:r>
              <a:rPr lang="en-IN" dirty="0" smtClean="0"/>
              <a:t> </a:t>
            </a:r>
            <a:endParaRPr lang="en-IN" dirty="0"/>
          </a:p>
          <a:p>
            <a:pPr algn="just"/>
            <a:r>
              <a:rPr lang="en-IN" dirty="0"/>
              <a:t>Provides a robust solution for modern smart systems </a:t>
            </a:r>
          </a:p>
          <a:p>
            <a:endParaRPr lang="en-US" dirty="0"/>
          </a:p>
        </p:txBody>
      </p:sp>
      <p:sp>
        <p:nvSpPr>
          <p:cNvPr id="18436" name="Slide Number Placeholder 3"/>
          <p:cNvSpPr>
            <a:spLocks noGrp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2D983B6-E938-4424-BED1-4178B5F49D01}" type="slidenum">
              <a:rPr lang="en-US" altLang="en-US"/>
              <a:pPr/>
              <a:t>12</a:t>
            </a:fld>
            <a:endParaRPr lang="en-US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9956800" cy="715962"/>
          </a:xfrm>
        </p:spPr>
        <p:txBody>
          <a:bodyPr/>
          <a:lstStyle/>
          <a:p>
            <a:pPr>
              <a:defRPr/>
            </a:pPr>
            <a:r>
              <a:rPr lang="en-US" dirty="0"/>
              <a:t>                                     FUTURE WORK</a:t>
            </a:r>
            <a:endParaRPr lang="en-IN" dirty="0"/>
          </a:p>
        </p:txBody>
      </p:sp>
      <p:sp>
        <p:nvSpPr>
          <p:cNvPr id="19459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527175"/>
            <a:ext cx="10229850" cy="5330825"/>
          </a:xfrm>
        </p:spPr>
        <p:txBody>
          <a:bodyPr/>
          <a:lstStyle/>
          <a:p>
            <a:pPr algn="just"/>
            <a:r>
              <a:rPr lang="en-IN" dirty="0" smtClean="0"/>
              <a:t>Scalable </a:t>
            </a:r>
            <a:r>
              <a:rPr lang="en-IN" dirty="0" err="1" smtClean="0"/>
              <a:t>Blockchain</a:t>
            </a:r>
            <a:r>
              <a:rPr lang="en-IN" dirty="0" smtClean="0"/>
              <a:t> Solutions: </a:t>
            </a:r>
            <a:r>
              <a:rPr lang="en-IN" dirty="0"/>
              <a:t>Improve </a:t>
            </a:r>
            <a:r>
              <a:rPr lang="en-IN" dirty="0" err="1"/>
              <a:t>blockchain</a:t>
            </a:r>
            <a:r>
              <a:rPr lang="en-IN" dirty="0"/>
              <a:t> performance to handle large-scale data with reduced latency and higher throughput</a:t>
            </a:r>
            <a:r>
              <a:rPr lang="en-IN" dirty="0" smtClean="0"/>
              <a:t>.</a:t>
            </a:r>
          </a:p>
          <a:p>
            <a:pPr algn="just"/>
            <a:endParaRPr lang="en-IN" dirty="0"/>
          </a:p>
          <a:p>
            <a:pPr algn="just"/>
            <a:r>
              <a:rPr lang="en-IN" dirty="0"/>
              <a:t>Advanced AI Models: Use deep learning and federated learning to enhance accuracy in trust evaluation and anomaly detection</a:t>
            </a:r>
            <a:r>
              <a:rPr lang="en-IN" dirty="0" smtClean="0"/>
              <a:t>.</a:t>
            </a:r>
          </a:p>
          <a:p>
            <a:pPr algn="just"/>
            <a:endParaRPr lang="en-IN" dirty="0"/>
          </a:p>
          <a:p>
            <a:pPr algn="just"/>
            <a:r>
              <a:rPr lang="en-IN" dirty="0" smtClean="0"/>
              <a:t>Integration </a:t>
            </a:r>
            <a:r>
              <a:rPr lang="en-IN" dirty="0"/>
              <a:t>Edge Computing: Process data closer to devices to reduce delay and improve real-time system performance.</a:t>
            </a:r>
            <a:endParaRPr lang="en-IN" dirty="0"/>
          </a:p>
        </p:txBody>
      </p:sp>
      <p:sp>
        <p:nvSpPr>
          <p:cNvPr id="19460" name="Slide Number Placeholder 3"/>
          <p:cNvSpPr>
            <a:spLocks noGrp="1" noChangeArrowheads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E114EDBC-7F5B-4F75-8C14-4F3D9200C9D2}" type="slidenum">
              <a:rPr lang="en-US" altLang="en-US"/>
              <a:pPr/>
              <a:t>13</a:t>
            </a:fld>
            <a:endParaRPr lang="en-US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9956800" cy="685800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dirty="0"/>
              <a:t>References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838200"/>
            <a:ext cx="10744200" cy="5791200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/>
              <a:t>[1] Y. Zhang, X. Liu, and H. Wang, “</a:t>
            </a:r>
            <a:r>
              <a:rPr lang="en-IN" dirty="0" err="1"/>
              <a:t>Blockchain</a:t>
            </a:r>
            <a:r>
              <a:rPr lang="en-IN" dirty="0"/>
              <a:t>-Based Trust Mechanism for Digital Twin in Industrial </a:t>
            </a:r>
            <a:r>
              <a:rPr lang="en-IN" dirty="0" err="1"/>
              <a:t>IoT</a:t>
            </a:r>
            <a:r>
              <a:rPr lang="en-IN" dirty="0"/>
              <a:t>,” </a:t>
            </a:r>
            <a:r>
              <a:rPr lang="en-IN" i="1" dirty="0"/>
              <a:t>Future Generation Computer Systems</a:t>
            </a:r>
            <a:r>
              <a:rPr lang="en-IN" dirty="0"/>
              <a:t>, vol. 130, pp. 1–12, 2022.</a:t>
            </a:r>
          </a:p>
          <a:p>
            <a:pPr marL="0" indent="0" algn="just">
              <a:buNone/>
            </a:pPr>
            <a:r>
              <a:rPr lang="en-IN" dirty="0"/>
              <a:t>[2] J. Chen, Q. Li, and K. Zhao, “TFL-DT: A Trust Evaluation Scheme for Federated Learning in Digital Twin,” </a:t>
            </a:r>
            <a:r>
              <a:rPr lang="en-IN" i="1" dirty="0"/>
              <a:t>IEEE Access</a:t>
            </a:r>
            <a:r>
              <a:rPr lang="en-IN" dirty="0"/>
              <a:t>, vol. 11, pp. 112345–112356, 2023.</a:t>
            </a:r>
          </a:p>
          <a:p>
            <a:pPr marL="0" indent="0" algn="just">
              <a:buNone/>
            </a:pPr>
            <a:r>
              <a:rPr lang="en-IN" dirty="0"/>
              <a:t>[3] A. Kumar, R. Singh, and S. Patel, “</a:t>
            </a:r>
            <a:r>
              <a:rPr lang="en-IN" dirty="0" err="1"/>
              <a:t>Blockchain</a:t>
            </a:r>
            <a:r>
              <a:rPr lang="en-IN" dirty="0"/>
              <a:t>-Enabled Digital Twin Framework for Smart Cities,” </a:t>
            </a:r>
            <a:r>
              <a:rPr lang="en-IN" i="1" dirty="0"/>
              <a:t>IEEE Internet of Things Journal</a:t>
            </a:r>
            <a:r>
              <a:rPr lang="en-IN" dirty="0"/>
              <a:t>, vol. 10, no. 5, pp. 4567–4578, 2023.</a:t>
            </a:r>
          </a:p>
          <a:p>
            <a:pPr marL="0" indent="0" algn="just">
              <a:buNone/>
            </a:pPr>
            <a:r>
              <a:rPr lang="en-IN" dirty="0"/>
              <a:t>[4] M. Rahman, S. Islam, and T. Ahmed, “</a:t>
            </a:r>
            <a:r>
              <a:rPr lang="en-IN" dirty="0" err="1"/>
              <a:t>Blockchain</a:t>
            </a:r>
            <a:r>
              <a:rPr lang="en-IN" dirty="0"/>
              <a:t>-Based Collaborative Digital Twin Framework for Healthcare Systems,” </a:t>
            </a:r>
            <a:r>
              <a:rPr lang="en-IN" i="1" dirty="0"/>
              <a:t>IEEE Access</a:t>
            </a:r>
            <a:r>
              <a:rPr lang="en-IN" dirty="0"/>
              <a:t>, vol. 9, pp. 145678–145689, 2021</a:t>
            </a:r>
            <a:r>
              <a:rPr lang="en-IN" dirty="0" smtClean="0"/>
              <a:t>.</a:t>
            </a:r>
          </a:p>
          <a:p>
            <a:pPr marL="0" indent="0" algn="just">
              <a:buNone/>
            </a:pPr>
            <a:r>
              <a:rPr lang="en-IN" dirty="0"/>
              <a:t>[5] L. Wang, Y. Zhou, and H. Chen, “</a:t>
            </a:r>
            <a:r>
              <a:rPr lang="en-IN" dirty="0" err="1"/>
              <a:t>Causio-TwinChain</a:t>
            </a:r>
            <a:r>
              <a:rPr lang="en-IN" dirty="0"/>
              <a:t>: AI-Driven Trust and Security Model for Digital Twins,” </a:t>
            </a:r>
            <a:r>
              <a:rPr lang="en-IN" i="1" dirty="0"/>
              <a:t>Scientific Reports</a:t>
            </a:r>
            <a:r>
              <a:rPr lang="en-IN" dirty="0"/>
              <a:t>, vol. 14, pp. 1–12, 2024.</a:t>
            </a:r>
          </a:p>
        </p:txBody>
      </p:sp>
      <p:sp>
        <p:nvSpPr>
          <p:cNvPr id="20484" name="Slide Number Placeholder 3"/>
          <p:cNvSpPr>
            <a:spLocks noGrp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DAB2DF98-6BEF-4328-B994-32F9E7364367}" type="slidenum">
              <a:rPr lang="en-US" altLang="en-US"/>
              <a:pPr/>
              <a:t>14</a:t>
            </a:fld>
            <a:endParaRPr lang="en-US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Content Placeholder 2"/>
          <p:cNvSpPr>
            <a:spLocks noGrp="1"/>
          </p:cNvSpPr>
          <p:nvPr>
            <p:ph sz="quarter" idx="1"/>
          </p:nvPr>
        </p:nvSpPr>
        <p:spPr>
          <a:xfrm>
            <a:off x="609600" y="642893"/>
            <a:ext cx="10515600" cy="5910307"/>
          </a:xfrm>
        </p:spPr>
        <p:txBody>
          <a:bodyPr/>
          <a:lstStyle/>
          <a:p>
            <a:pPr marL="0" indent="0" algn="just">
              <a:buNone/>
            </a:pPr>
            <a:r>
              <a:rPr lang="en-IN" dirty="0"/>
              <a:t>[6] T. Nguyen, D. Kim, and J. Park, “</a:t>
            </a:r>
            <a:r>
              <a:rPr lang="en-IN" dirty="0" err="1"/>
              <a:t>Blockchain</a:t>
            </a:r>
            <a:r>
              <a:rPr lang="en-IN" dirty="0"/>
              <a:t> in Digital Twin: A Comprehensive Survey,” </a:t>
            </a:r>
            <a:r>
              <a:rPr lang="en-IN" i="1" dirty="0"/>
              <a:t>ACM Computing Surveys</a:t>
            </a:r>
            <a:r>
              <a:rPr lang="en-IN" dirty="0"/>
              <a:t>, vol. 56, no. 3, pp. 1–34, 2023.</a:t>
            </a:r>
          </a:p>
          <a:p>
            <a:pPr marL="0" indent="0" algn="just">
              <a:buNone/>
            </a:pPr>
            <a:r>
              <a:rPr lang="en-IN" dirty="0"/>
              <a:t>[7] P. Sharma, R. Gupta, and S. </a:t>
            </a:r>
            <a:r>
              <a:rPr lang="en-IN" dirty="0" err="1"/>
              <a:t>Verma</a:t>
            </a:r>
            <a:r>
              <a:rPr lang="en-IN" dirty="0"/>
              <a:t>, “</a:t>
            </a:r>
            <a:r>
              <a:rPr lang="en-IN" dirty="0" err="1"/>
              <a:t>Blockchain</a:t>
            </a:r>
            <a:r>
              <a:rPr lang="en-IN" dirty="0"/>
              <a:t>-Based Digital Twin for Industrial </a:t>
            </a:r>
            <a:r>
              <a:rPr lang="en-IN" dirty="0" err="1"/>
              <a:t>IoT</a:t>
            </a:r>
            <a:r>
              <a:rPr lang="en-IN" dirty="0"/>
              <a:t> Security,” </a:t>
            </a:r>
            <a:r>
              <a:rPr lang="en-IN" i="1" dirty="0"/>
              <a:t>IEEE Transactions on Industrial Informatics</a:t>
            </a:r>
            <a:r>
              <a:rPr lang="en-IN" dirty="0"/>
              <a:t>, vol. 19, no. 2, pp. 1234–1243, 2023.</a:t>
            </a:r>
          </a:p>
          <a:p>
            <a:pPr marL="0" indent="0" algn="just">
              <a:buNone/>
            </a:pPr>
            <a:r>
              <a:rPr lang="en-IN" dirty="0"/>
              <a:t>[8] X. Li, Y. Zhang, and Z. Chen, “Trust Management in </a:t>
            </a:r>
            <a:r>
              <a:rPr lang="en-IN" dirty="0" err="1"/>
              <a:t>Blockchain</a:t>
            </a:r>
            <a:r>
              <a:rPr lang="en-IN" dirty="0"/>
              <a:t>-Based </a:t>
            </a:r>
            <a:r>
              <a:rPr lang="en-IN" dirty="0" err="1"/>
              <a:t>IoT</a:t>
            </a:r>
            <a:r>
              <a:rPr lang="en-IN" dirty="0"/>
              <a:t> Systems,” </a:t>
            </a:r>
            <a:r>
              <a:rPr lang="en-IN" i="1" dirty="0"/>
              <a:t>IEEE Internet of Things Journal</a:t>
            </a:r>
            <a:r>
              <a:rPr lang="en-IN" dirty="0"/>
              <a:t>, vol. 8, no. 6, pp. 4560–4570, 2021.</a:t>
            </a:r>
          </a:p>
          <a:p>
            <a:pPr marL="0" indent="0" algn="just">
              <a:buNone/>
            </a:pPr>
            <a:r>
              <a:rPr lang="en-IN" dirty="0"/>
              <a:t>[9] V. Kumar, P. Reddy, and M. Singh, “AI-Based Trust Evaluation Models in Distributed Systems,” </a:t>
            </a:r>
            <a:r>
              <a:rPr lang="en-IN" i="1" dirty="0"/>
              <a:t>IEEE Access</a:t>
            </a:r>
            <a:r>
              <a:rPr lang="en-IN" dirty="0"/>
              <a:t>, vol. 10, pp. 98765–98776, 2022.</a:t>
            </a:r>
          </a:p>
          <a:p>
            <a:pPr marL="0" indent="0" algn="just">
              <a:buNone/>
            </a:pPr>
            <a:r>
              <a:rPr lang="en-IN" dirty="0"/>
              <a:t>[10] N. Patel, K. Shah, and R. Mehta, “Secure Digital Twin Framework Using AI and </a:t>
            </a:r>
            <a:r>
              <a:rPr lang="en-IN" dirty="0" err="1"/>
              <a:t>Blockchain</a:t>
            </a:r>
            <a:r>
              <a:rPr lang="en-IN" dirty="0"/>
              <a:t>,” </a:t>
            </a:r>
            <a:r>
              <a:rPr lang="en-IN" i="1" dirty="0"/>
              <a:t>IEEE Access</a:t>
            </a:r>
            <a:r>
              <a:rPr lang="en-IN" dirty="0"/>
              <a:t>, vol. 11, pp. 76543–76555, 2023.</a:t>
            </a:r>
          </a:p>
        </p:txBody>
      </p:sp>
      <p:sp>
        <p:nvSpPr>
          <p:cNvPr id="21508" name="Slide Number Placeholder 3"/>
          <p:cNvSpPr>
            <a:spLocks noGrp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E6F131BC-F7C7-4DEA-90B6-32CF77105A53}" type="slidenum">
              <a:rPr lang="en-US" altLang="en-US"/>
              <a:pPr/>
              <a:t>15</a:t>
            </a:fld>
            <a:endParaRPr lang="en-US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990600"/>
            <a:ext cx="7467600" cy="2590800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dirty="0"/>
              <a:t/>
            </a:r>
            <a:br>
              <a:rPr lang="en-US" dirty="0"/>
            </a:br>
            <a:r>
              <a:rPr lang="en-US" dirty="0"/>
              <a:t>THANK YOU</a:t>
            </a:r>
          </a:p>
        </p:txBody>
      </p:sp>
      <p:sp>
        <p:nvSpPr>
          <p:cNvPr id="23555" name="Slide Number Placeholder 2"/>
          <p:cNvSpPr>
            <a:spLocks noGrp="1"/>
          </p:cNvSpPr>
          <p:nvPr>
            <p:ph type="sldNum" sz="quarter" idx="11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463AA0C4-D338-4B8B-AF76-FA6D5AEDADCF}" type="slidenum">
              <a:rPr lang="en-US" altLang="en-US"/>
              <a:pPr/>
              <a:t>16</a:t>
            </a:fld>
            <a:endParaRPr lang="en-US" alt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el">
  <a:themeElements>
    <a:clrScheme name="Oriel">
      <a:dk1>
        <a:sysClr val="windowText" lastClr="000000"/>
      </a:dk1>
      <a:lt1>
        <a:sysClr val="window" lastClr="FFFFFF"/>
      </a:lt1>
      <a:dk2>
        <a:srgbClr val="575F6D"/>
      </a:dk2>
      <a:lt2>
        <a:srgbClr val="FFF39D"/>
      </a:lt2>
      <a:accent1>
        <a:srgbClr val="FE8637"/>
      </a:accent1>
      <a:accent2>
        <a:srgbClr val="7598D9"/>
      </a:accent2>
      <a:accent3>
        <a:srgbClr val="B32C16"/>
      </a:accent3>
      <a:accent4>
        <a:srgbClr val="F5CD2D"/>
      </a:accent4>
      <a:accent5>
        <a:srgbClr val="AEBAD5"/>
      </a:accent5>
      <a:accent6>
        <a:srgbClr val="777C84"/>
      </a:accent6>
      <a:hlink>
        <a:srgbClr val="D2611C"/>
      </a:hlink>
      <a:folHlink>
        <a:srgbClr val="3B435B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riel">
    <a:dk1>
      <a:sysClr val="windowText" lastClr="000000"/>
    </a:dk1>
    <a:lt1>
      <a:sysClr val="window" lastClr="FFFFFF"/>
    </a:lt1>
    <a:dk2>
      <a:srgbClr val="575F6D"/>
    </a:dk2>
    <a:lt2>
      <a:srgbClr val="FFF39D"/>
    </a:lt2>
    <a:accent1>
      <a:srgbClr val="FE8637"/>
    </a:accent1>
    <a:accent2>
      <a:srgbClr val="7598D9"/>
    </a:accent2>
    <a:accent3>
      <a:srgbClr val="B32C16"/>
    </a:accent3>
    <a:accent4>
      <a:srgbClr val="F5CD2D"/>
    </a:accent4>
    <a:accent5>
      <a:srgbClr val="AEBAD5"/>
    </a:accent5>
    <a:accent6>
      <a:srgbClr val="777C84"/>
    </a:accent6>
    <a:hlink>
      <a:srgbClr val="D2611C"/>
    </a:hlink>
    <a:folHlink>
      <a:srgbClr val="3B435B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Oriel</Template>
  <TotalTime>2395</TotalTime>
  <Words>1135</Words>
  <Application>Microsoft Office PowerPoint</Application>
  <PresentationFormat>Widescreen</PresentationFormat>
  <Paragraphs>180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Bookman Old Style</vt:lpstr>
      <vt:lpstr>Calibri</vt:lpstr>
      <vt:lpstr>Century Schoolbook</vt:lpstr>
      <vt:lpstr>Courier New</vt:lpstr>
      <vt:lpstr>Times New Roman</vt:lpstr>
      <vt:lpstr>Wingdings</vt:lpstr>
      <vt:lpstr>Wingdings 2</vt:lpstr>
      <vt:lpstr>Oriel</vt:lpstr>
      <vt:lpstr>AI Assisted Trust Evaluation In blockchain based digital twin system </vt:lpstr>
      <vt:lpstr>AGENDA</vt:lpstr>
      <vt:lpstr>Abstract </vt:lpstr>
      <vt:lpstr>                                   INTRODUCTION</vt:lpstr>
      <vt:lpstr>Literature Survey</vt:lpstr>
      <vt:lpstr>DESIGN AND WORKING </vt:lpstr>
      <vt:lpstr>PowerPoint Presentation</vt:lpstr>
      <vt:lpstr>PowerPoint Presentation</vt:lpstr>
      <vt:lpstr>PowerPoint Presentation</vt:lpstr>
      <vt:lpstr> Advantages and disadvantages</vt:lpstr>
      <vt:lpstr>APPLICATIONS</vt:lpstr>
      <vt:lpstr>CONCLUSION</vt:lpstr>
      <vt:lpstr>                                     FUTURE WORK</vt:lpstr>
      <vt:lpstr>References</vt:lpstr>
      <vt:lpstr>PowerPoint Presentation</vt:lpstr>
      <vt:lpstr> THANK YOU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Project</dc:title>
  <dc:creator>Lenovo</dc:creator>
  <cp:lastModifiedBy>Sangu</cp:lastModifiedBy>
  <cp:revision>192</cp:revision>
  <dcterms:created xsi:type="dcterms:W3CDTF">2006-08-16T00:00:00Z</dcterms:created>
  <dcterms:modified xsi:type="dcterms:W3CDTF">2026-04-20T18:25:36Z</dcterms:modified>
</cp:coreProperties>
</file>